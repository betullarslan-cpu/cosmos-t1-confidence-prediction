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26a3084bec34309" Type="http://schemas.openxmlformats.org/package/2006/relationships/metadata/core-properties" Target="docProps/core.xml"/><Relationship Id="R9793ee4620974b06" Type="http://schemas.openxmlformats.org/officeDocument/2006/relationships/extended-properties" Target="docProps/app.xml"/><Relationship Id="R9f96ca3fffdb401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cb5442a2c45e5"/>
  </p:sldMasterIdLst>
  <p:notesMasterIdLst>
    <p:notesMasterId xmlns:r="http://schemas.openxmlformats.org/officeDocument/2006/relationships" r:id="R2394c24d9c6c483f"/>
  </p:notesMasterIdLst>
  <p:sldIdLst>
    <p:sldId xmlns:r="http://schemas.openxmlformats.org/officeDocument/2006/relationships" id="256" r:id="Rf22596731e2e4a92"/>
    <p:sldId xmlns:r="http://schemas.openxmlformats.org/officeDocument/2006/relationships" id="257" r:id="R0f3a817e99704397"/>
    <p:sldId xmlns:r="http://schemas.openxmlformats.org/officeDocument/2006/relationships" id="258" r:id="R4a0cce911db14147"/>
    <p:sldId xmlns:r="http://schemas.openxmlformats.org/officeDocument/2006/relationships" id="259" r:id="R4d254fa650c54b7a"/>
    <p:sldId xmlns:r="http://schemas.openxmlformats.org/officeDocument/2006/relationships" id="260" r:id="R0773b56e37474d40"/>
    <p:sldId xmlns:r="http://schemas.openxmlformats.org/officeDocument/2006/relationships" id="261" r:id="Ra9c8c4cb2a654843"/>
    <p:sldId xmlns:r="http://schemas.openxmlformats.org/officeDocument/2006/relationships" id="262" r:id="Rdaca18e666914bdc"/>
    <p:sldId xmlns:r="http://schemas.openxmlformats.org/officeDocument/2006/relationships" id="263" r:id="Rebd47fdeb08942eb"/>
    <p:sldId xmlns:r="http://schemas.openxmlformats.org/officeDocument/2006/relationships" id="264" r:id="Rb21719d46f5a4efc"/>
    <p:sldId xmlns:r="http://schemas.openxmlformats.org/officeDocument/2006/relationships" id="265" r:id="R1393400790bb485e"/>
    <p:sldId xmlns:r="http://schemas.openxmlformats.org/officeDocument/2006/relationships" id="266" r:id="R630f3a9f2f214a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73b56e37474d40" Type="http://schemas.openxmlformats.org/officeDocument/2006/relationships/slide" Target="slides/slide5.xml"/><Relationship Id="R0f3a817e99704397" Type="http://schemas.openxmlformats.org/officeDocument/2006/relationships/slide" Target="slides/slide2.xml"/><Relationship Id="R1393400790bb485e" Type="http://schemas.openxmlformats.org/officeDocument/2006/relationships/slide" Target="slides/slide10.xml"/><Relationship Id="R2394c24d9c6c483f" Type="http://schemas.openxmlformats.org/officeDocument/2006/relationships/notesMaster" Target="notesMasters/notesMaster1.xml"/><Relationship Id="R452d9a9ed8094942" Type="http://schemas.openxmlformats.org/officeDocument/2006/relationships/theme" Target="theme/theme1.xml"/><Relationship Id="R4a0cce911db14147" Type="http://schemas.openxmlformats.org/officeDocument/2006/relationships/slide" Target="slides/slide3.xml"/><Relationship Id="R4d254fa650c54b7a" Type="http://schemas.openxmlformats.org/officeDocument/2006/relationships/slide" Target="slides/slide4.xml"/><Relationship Id="R630f3a9f2f214a17" Type="http://schemas.openxmlformats.org/officeDocument/2006/relationships/slide" Target="slides/slide11.xml"/><Relationship Id="R6efcb5442a2c45e5" Type="http://schemas.openxmlformats.org/officeDocument/2006/relationships/slideMaster" Target="slideMasters/slideMaster1.xml"/><Relationship Id="Ra9c8c4cb2a654843" Type="http://schemas.openxmlformats.org/officeDocument/2006/relationships/slide" Target="slides/slide6.xml"/><Relationship Id="Rb21719d46f5a4efc" Type="http://schemas.openxmlformats.org/officeDocument/2006/relationships/slide" Target="slides/slide9.xml"/><Relationship Id="Rbd3a5c7ca43947d2" Type="http://schemas.openxmlformats.org/officeDocument/2006/relationships/tableStyles" Target="tableStyles.xml"/><Relationship Id="Rdaca18e666914bdc" Type="http://schemas.openxmlformats.org/officeDocument/2006/relationships/slide" Target="slides/slide7.xml"/><Relationship Id="Rebd47fdeb08942eb" Type="http://schemas.openxmlformats.org/officeDocument/2006/relationships/slide" Target="slides/slide8.xml"/><Relationship Id="Rebf26e95f19d4b0c" Type="http://schemas.openxmlformats.org/officeDocument/2006/relationships/presProps" Target="presProps.xml"/><Relationship Id="Rf22596731e2e4a92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a4e89d4791d746a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b6a4acac05e4652" Type="http://schemas.openxmlformats.org/officeDocument/2006/relationships/slide" Target="../slides/slide1.xml"/><Relationship Id="Reb1573ccad8843c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c33d1b70b3b4ae0" Type="http://schemas.openxmlformats.org/officeDocument/2006/relationships/notesMaster" Target="../notesMasters/notesMaster1.xml"/><Relationship Id="Rb58f6f1ad34f4df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d75232debdf43a6" Type="http://schemas.openxmlformats.org/officeDocument/2006/relationships/slide" Target="../slides/slide3.xml"/><Relationship Id="Ra981d22229574be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06fa43751c14b0c" Type="http://schemas.openxmlformats.org/officeDocument/2006/relationships/slide" Target="../slides/slide4.xml"/><Relationship Id="Rccdd021d781441a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cf4dd497c4f4d67" Type="http://schemas.openxmlformats.org/officeDocument/2006/relationships/slide" Target="../slides/slide5.xml"/><Relationship Id="R9a6dca849551463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f70c27a3e8a447a0" Type="http://schemas.openxmlformats.org/officeDocument/2006/relationships/notesMaster" Target="../notesMasters/notesMaster1.xml"/><Relationship Id="Rf79b464d0939448b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508898d6e94460a" Type="http://schemas.openxmlformats.org/officeDocument/2006/relationships/notesMaster" Target="../notesMasters/notesMaster1.xml"/><Relationship Id="Rddd47d7617364ba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93da32bb71744ff" Type="http://schemas.openxmlformats.org/officeDocument/2006/relationships/slide" Target="../slides/slide8.xml"/><Relationship Id="Rd428885a144f461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d5c16a34435473f" Type="http://schemas.openxmlformats.org/officeDocument/2006/relationships/slide" Target="../slides/slide9.xml"/><Relationship Id="Rd355b65e5fce43b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b68a953584f4b73" Type="http://schemas.openxmlformats.org/officeDocument/2006/relationships/notesMaster" Target="../notesMasters/notesMaster1.xml"/><Relationship Id="Ra7073d639dcb4e4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269228a2096b4b6a" Type="http://schemas.openxmlformats.org/officeDocument/2006/relationships/slide" Target="../slides/slide11.xml"/><Relationship Id="Rf4a89387791048d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931207fc600453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f52855a205a409a" Type="http://schemas.openxmlformats.org/officeDocument/2006/relationships/slideLayout" Target="../slideLayouts/slideLayout1.xml"/><Relationship Id="R31231fed6fad4ae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2855a205a40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03c286671a04536" Type="http://schemas.openxmlformats.org/officeDocument/2006/relationships/notesSlide" Target="../notesSlides/notesSlide1.xml"/><Relationship Id="Rac5bbf34c023467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5907c1ac0944f49" Type="http://schemas.openxmlformats.org/officeDocument/2006/relationships/slideLayout" Target="../slideLayouts/slideLayout1.xml"/><Relationship Id="R9912008e1a2b447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3968d2ff0f24601" Type="http://schemas.openxmlformats.org/officeDocument/2006/relationships/slideLayout" Target="../slideLayouts/slideLayout1.xml"/><Relationship Id="R5a2a9478c728462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c857249367f49e4" Type="http://schemas.openxmlformats.org/officeDocument/2006/relationships/slideLayout" Target="../slideLayouts/slideLayout1.xml"/><Relationship Id="R7af5d72a928348c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f59f506dfc84856" Type="http://schemas.openxmlformats.org/officeDocument/2006/relationships/slideLayout" Target="../slideLayouts/slideLayout1.xml"/><Relationship Id="Rc894c2c536d64e9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72d5314698be4e78" Type="http://schemas.openxmlformats.org/officeDocument/2006/relationships/slideLayout" Target="../slideLayouts/slideLayout1.xml"/><Relationship Id="R9d606ac525e74a3f" Type="http://schemas.openxmlformats.org/officeDocument/2006/relationships/chart" Target="charts/chart1.xml"/><Relationship Id="Rb436c25ce826436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684e469ab664021" Type="http://schemas.openxmlformats.org/officeDocument/2006/relationships/notesSlide" Target="../notesSlides/notesSlide7.xml"/><Relationship Id="R9e14036e54854127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1464e99da4f746fb" Type="http://schemas.openxmlformats.org/officeDocument/2006/relationships/notesSlide" Target="../notesSlides/notesSlide8.xml"/><Relationship Id="R853e115f7da04d48" Type="http://schemas.openxmlformats.org/officeDocument/2006/relationships/chart" Target="charts/chart2.xml"/><Relationship Id="Rd7ec553212864333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0ae9a88d8b87425d" Type="http://schemas.openxmlformats.org/officeDocument/2006/relationships/chart" Target="charts/chart3.xml"/><Relationship Id="R9d03fe09af614843" Type="http://schemas.openxmlformats.org/officeDocument/2006/relationships/notesSlide" Target="../notesSlides/notesSlide9.xml"/><Relationship Id="Rb353f965d6ec440a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06f6ae2714bd4f13" Type="http://schemas.openxmlformats.org/officeDocument/2006/relationships/notesSlide" Target="../notesSlides/notesSlide10.xml"/><Relationship Id="Rdff1b4436778451d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a959cbdf70d04274" Type="http://schemas.openxmlformats.org/officeDocument/2006/relationships/slideLayout" Target="../slideLayouts/slideLayout1.xml"/><Relationship Id="Rf9503bab9a194c09" Type="http://schemas.openxmlformats.org/officeDocument/2006/relationships/notesSlide" Target="../notesSlides/notesSlide11.xml"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F1-score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LR</c:v>
              </c:pt>
              <c:pt idx="1">
                <c:v>RF</c:v>
              </c:pt>
              <c:pt idx="2">
                <c:v>GB</c:v>
              </c:pt>
            </c:strLit>
          </c:cat>
          <c:val>
            <c:numLit>
              <c:formatCode>0.00</c:formatCode>
              <c:ptCount val="3"/>
              <c:pt idx="0">
                <c:v>0.7027</c:v>
              </c:pt>
              <c:pt idx="1">
                <c:v>0.7679</c:v>
              </c:pt>
              <c:pt idx="2">
                <c:v>0.7523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85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D4ED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Logistic Regression</c:v>
              </c:pt>
              <c:pt idx="1">
                <c:v>Random Forest</c:v>
              </c:pt>
              <c:pt idx="2">
                <c:v>Gradient Boosting</c:v>
              </c:pt>
            </c:strLit>
          </c:cat>
          <c:val>
            <c:numLit>
              <c:formatCode>General</c:formatCode>
              <c:ptCount val="3"/>
              <c:pt idx="0">
                <c:v>0.756</c:v>
              </c:pt>
              <c:pt idx="1">
                <c:v>0.8032</c:v>
              </c:pt>
              <c:pt idx="2">
                <c:v>0.7916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Importance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mean_first10</c:v>
              </c:pt>
              <c:pt idx="1">
                <c:v>mean_last10</c:v>
              </c:pt>
              <c:pt idx="2">
                <c:v>q75</c:v>
              </c:pt>
              <c:pt idx="3">
                <c:v>median</c:v>
              </c:pt>
              <c:pt idx="4">
                <c:v>min_region_mean</c:v>
              </c:pt>
            </c:strLit>
          </c:cat>
          <c:val>
            <c:numLit>
              <c:formatCode>General</c:formatCode>
              <c:ptCount val="5"/>
              <c:pt idx="0">
                <c:v>0.147</c:v>
              </c:pt>
              <c:pt idx="1">
                <c:v>0.107</c:v>
              </c:pt>
              <c:pt idx="2">
                <c:v>0.095</c:v>
              </c:pt>
              <c:pt idx="3">
                <c:v>0.086</c:v>
              </c:pt>
              <c:pt idx="4">
                <c:v>0.082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658665-6749-4F11-B8F7-665DF91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DCB3A-1CF0-4314-AE22-6D57BC63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C7A40-AFA6-4162-A0A2-8644CC2F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HESAPLAMALI ANLAMBILIM FINAL PROJESI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BEC04-C4DC-4254-97A6-08848020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Top1-top2 olasılık farkı ile</a:t>
            </a:r>
          </a:p>
          <a:p xmlns:a="http://schemas.openxmlformats.org/drawingml/2006/main">
            <a:pPr>
              <a:def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cevap doğruluğu tahmini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D0C11-8030-4F3E-BDE1-E9F6590F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475569"/>
                </a:solidFill>
                <a:latin typeface="Aptos"/>
                <a:ea typeface="Aptos"/>
                <a:cs typeface="Aptos"/>
              </a:rPr>
              <a:t>Cosmos-T1 modelinin GSM8K-TR sorularındaki üretim güven sinyalini klasik ML modelleriyle sınıflandırma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79CF7-9925-4E2A-8D94-2E34247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3350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6CF6A-0766-4111-AA01-F9469778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430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111116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4FF9C-CA5B-4BA6-9036-182D1410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Üretilen soru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B1438-7563-45A2-9684-1D695803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koşu tamamlandı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A5D36-B0F4-4B9F-B612-125AD40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493F3-1A04-4C70-B919-D8AFC1F3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551 / 12145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33F80-3BDA-44B0-BEA3-374C0C3D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Doğru / yanlış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4C427-0241-4DB2-9FA8-7B6C7FF8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1000 train + 100 test hazır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2F815-B5DE-453C-AD8C-F942EBF9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4B884-2815-4C2E-81B3-2A763D76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815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Random Forest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69368-2AEB-4954-9A7F-4AD290C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483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 iyi final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2C1A8-E084-4388-8ACD-528DD17F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150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RF: F1=0.114214 · AUC=0.11824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D4412-8CD7-46BE-96B3-3E25BEAB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Betül Arslan  ·  Turkish-Gemma-14B-T1  ·  ytu-ce-cosmos/gsm8k_tr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C0D77-FD50-4940-B229-0363F428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045D3-A97D-476A-B463-962EEA64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6140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241E27-D812-4223-A3DF-B7A0325F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Araştırma sorusu: modelin güven izi doğru cevabı haber veriyor mu?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7B508-A5AE-4EAB-ACDB-2228CF2B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Token düzeyindeki olasılık farklarını, cevap düzeyinde doğru/yanlış tahmini için kullanıyoruz.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7A435-D27E-4A50-B3CA-FA933FE0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304FF-14EB-4BB4-8655-FC0F315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HIPOTEZ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C28FE-8DF9-4CA4-A93C-1324FDAF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Doğru cevaplarda modelin token seçimi daha kararlı olur.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C921E-5331-410D-B57C-A18CBAC1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Top1-top2 farkı büyükse model ilk token seçimine daha emindir.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Yanlış cevaplarda fark dizisi daha değişken ya da düşük olabilir.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Bu sinyal doğrudan cevabı okumadan güven tahmini sağlar.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9B79B-7D5D-447C-BBB2-ACAFF3CA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00200"/>
            <a:ext cx="4724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B057A-8AE8-4457-AAE1-B7142531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SINIFLANDIRMA HEDEFI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55800-8C9D-4619-A1EC-27DA143A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Her soru için tek etiket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B9CB2-A03A-446A-9D84-9E0E4434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1 = modelin sayısal cevabı doğru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0 = modelin sayısal cevabı yanlış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Girdi: top1-top2 dizisinden 18 istatistiksel özellik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774A9-8035-42D6-ACBF-CE0F39C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Neden önemli?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1C9D3-1E7E-403C-890D-B9AA5BAB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F172A"/>
                </a:solidFill>
                <a:latin typeface="Aptos"/>
                <a:ea typeface="Aptos"/>
                <a:cs typeface="Aptos"/>
              </a:rPr>
              <a:t>Bu yaklaşım, büyük dil modelinin metin çıktısından bağımsız olarak üretim sürecindeki belirsizlik bilgisini ölçer. Böylece cevabı otomatik kontrol edemediğimiz durumlarda güven temelli uyarı mekanizması kurulabilir.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E1446-1B73-4E7C-984A-C66D4D29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6BDE0-6976-4501-9E9C-616EC93B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2388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003B7-6F0A-43CB-82AA-442D7B98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Uçtan uca akış: üretimden ML değerlendirmesine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16F42-26B5-4482-9DD0-27A0F26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Her aşama checkpointlenebilir; Colab kesilirse JSON çıktısından devam edilir.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19209-3A2D-471E-ACDE-2A8EF9D3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A39AB-03F6-4855-9824-3AECB268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GSM8K-TR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FCBF4-C77F-47D7-B61D-CDA140A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Türkçe matematik soruları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3F890-C34B-4893-9953-6040509E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B101E-FF9E-4D86-8996-58B3A92B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2FCAE-5B40-4938-9D7D-379F0EF5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145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Cosmos-T1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E683A-D9FA-4707-967E-616C3AA8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Greedy cevap üretimi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545C7-1FC2-455D-9090-01735A4D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FF862-8D86-449F-B441-F0437682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8070A-3776-47A7-AF85-CE7BDBA6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Top1-top2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68832-74A2-4B2C-9796-5096C37E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Her token için δ(t)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B3D9E-5DBD-4201-816C-DC4B2A0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86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3AF26-0AA4-4D6D-9CBD-DE3D2F3D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CAC98-FBB7-4080-9C95-CD6F42BE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145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18 özellik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23643-6D84-46DF-B286-A11B3AF3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Sabit uzunluklu vektör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46289-3B9C-4553-8832-067BF836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205E4-EEFE-4F6E-A630-85ADBEB3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71992-1592-46C5-958D-F8AADB4C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ML modelleri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C6FA2-1815-403A-A832-13A059AD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LR · RF · GB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721EB-FBCC-46F0-B77E-6B9735C9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810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1EDF1-3FDE-4914-A4D3-E4382EA9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Değerlendirme metrikleri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866BE-3DCA-4A5B-8774-FDD8321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Confusion matrix: yanlış/doğru sınıf hatalarını ayrı görür.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Accuracy, Precision, Recall, F1-score: sınıflandırma başarısını özetler.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ROC-AUC: eşik değişse bile modelin ayırma gücünü ölçer.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3657D-EB7D-4F09-A0EA-DF2034C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7F1B3-54BF-4EEE-997A-363EA17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2828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1B4F3-1D34-41FA-AC65-A20874AC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Top1-top2 farkı cevap boyunca bir güven zaman serisidir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552FE-4E53-4232-9E58-C46B0C8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Değişken uzunluklu token dizisi, istatistiksel özetlerle sabit boyutlu özellik vektörüne çevrilir.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5014D-B0F4-4F51-8FA5-E83BA548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2009C-07D6-4C0A-8476-4048450D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δ(t) = P(top₁,t) − P(top₂,t)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2D155-61C5-45DB-A54F-E3CF37F8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75569"/>
                </a:solidFill>
                <a:latin typeface="Aptos"/>
                <a:ea typeface="Aptos"/>
                <a:cs typeface="Aptos"/>
              </a:rPr>
              <a:t>δ büyük: modelin birinci token seçimi baskın</a:t>
            </a:r>
          </a:p>
          <a:p xmlns:a="http://schemas.openxmlformats.org/drawingml/2006/main">
            <a:pPr algn="ctr">
              <a:defRPr sz="12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475569"/>
                </a:solidFill>
                <a:latin typeface="Aptos"/>
                <a:ea typeface="Aptos"/>
                <a:cs typeface="Aptos"/>
              </a:rPr>
              <a:t>δ küçük: alternatif tokenlar birbirine yakın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9C751-3760-454D-A341-8BB1847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20FAE-219B-4315-AFBE-3DD707B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Kayıt yöntemi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D0F0A-F973-4E0E-B5FC-40646B43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LogitsProcessor ile her adımda top-2 olasılık farkı kaydedilir.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Tüm score geçmişini saklamak gerekmez.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Bu yöntem bellek kullanımını ve Colab riskini azaltır.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FE6B4-BC93-48A1-846B-743AB142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Özellik aileleri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42E19-1BDD-4EBF-870A-AD7F9AEB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6D77E-98B9-4F71-A5AD-1AD12FF7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4AD38-FF42-44CC-90B0-D3FA2B61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43400"/>
            <a:ext cx="10096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7315F-24D9-4C91-902C-81907CDC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005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F4FE3-4B7C-4B9E-89D2-39182326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609A0-E316-4F68-98A0-089E064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005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46DC6-A1BB-4A8E-9062-1C914262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4ABE8-520D-4AB5-AC7E-7CCAFBC7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BA92F-14A4-40E8-8AA7-74084AD9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26DFF-95FB-41C9-ACFD-F1BD8790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61B44-EF6B-4B4D-8D30-0EC0D23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4340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84D8C-FF1D-448E-933D-0319B0A2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005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q25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F22DC-237F-473B-8054-BDF0E29B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0AC4A-3A58-4825-A698-4C6E4435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q115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F0B60-472E-48A3-98A7-E0401405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4340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002BB-1A1C-4438-88C3-20264744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005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IQR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70D4D-AD14-4966-949A-1FAA5990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4DEF5-31D8-4117-9F63-B2158AD4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skew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03A37-C798-46B8-A306-9ECAE542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1162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C6971-39BE-4615-BC63-37E3133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005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kurtosis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500C5-619C-496C-A0D6-D7E9161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15A2F-5B37-4E5B-AF8E-206BF7D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low/medium/high oran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ACB7D-9365-41B5-A7FB-EA873C9D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81550"/>
            <a:ext cx="1466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0E9F69-5F67-43A3-97CF-CEE4347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387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mean_first10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D4A1C3-1465-4654-AB78-E7D5F14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13906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BF1FE9-9510-4D35-9FC0-DA415C2B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387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mean_last10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99E0F3-A706-4337-82D1-BD127C1E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81550"/>
            <a:ext cx="933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0F9E07-DA20-4DA0-921F-BE1B460A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38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605A5A-5037-4688-B678-EB1BC48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1162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8F8D4A-DB27-436D-B784-0A9B9793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387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n_tokens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CB2893-94DE-436C-BEBD-E4F4EF88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0A8D0E-B3E4-42E0-A69A-790B8C94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2808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04762-8300-45A5-AB8E-9D1FE98D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Final veri tamamlandı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90F93-1871-426B-A3E1-8D63205B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111116 soru üretildi. 551 doğru, 12145 yanlış. Dengeli set oluşturuldu.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BA1BF-9931-4672-B526-951F6E35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286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113AC-50F0-47F1-B4FF-5DAE783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111116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13547-54A7-4B79-84BE-134DAE5C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Toplam üretilen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E111D-24F3-401C-AC08-731AD87D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Checkpoint: cosmos_t1_final_l4.json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A6957-F790-43DE-91FE-70A72E6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24000"/>
            <a:ext cx="2286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34FF7-AB8A-4843-A00B-04470A1D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335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551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C2D19-6CD9-4F16-BF08-DFD3B282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Doğru cevap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12B3F-ACA4-41C3-9D9E-C2F9B79F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3365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Hedef aşıldı 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83D68-3DE8-42FB-BD7F-D5006E7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24000"/>
            <a:ext cx="2286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E8D1E-892B-45FB-B2DF-41E8E55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335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12145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D2290-03BC-4E66-88D9-74CD9AF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Yanlış cevap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9DD75-3F6F-46A0-9528-B57A5BC7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Hedef aşıldı 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1316B-7694-4687-8372-FDB73712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24000"/>
            <a:ext cx="2286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28814-4A63-4B9F-B426-66C1736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335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E7383-6F27-4CA6-A56B-C7FDB4E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669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Eksik yok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54007-E74E-40A6-97A5-82411CBE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set hazır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613B7-8441-4275-89E2-9D34FD67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905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33C20-8AC2-42C7-B142-B6E8D5FD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Final dengeli set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971550" y="4210050"/>
          <a:ext xmlns:a="http://schemas.openxmlformats.org/drawingml/2006/main" cx="4333875" cy="819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83469"/>
                <a:gridCol w="1083469"/>
                <a:gridCol w="1083469"/>
                <a:gridCol w="1083469"/>
              </a:tblGrid>
              <a:tr h="2047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Küme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Doğru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Yanlış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Toplam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</a:tr>
              <a:tr h="2047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Eğitim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320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320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640</a:t>
                      </a:r>
                    </a:p>
                  </a:txBody>
                  <a:tcPr marL="91440" marR="91440" marT="45720" marB="45720"/>
                </a:tc>
              </a:tr>
              <a:tr h="2047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100</a:t>
                      </a:r>
                    </a:p>
                  </a:txBody>
                  <a:tcPr marL="91440" marR="91440" marT="45720" marB="45720"/>
                </a:tc>
              </a:tr>
              <a:tr h="2047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Toplam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370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370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740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7E89C-DC54-4163-B601-B1D70405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4905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D8032-D652-49CE-8B9E-F181522E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Ödevin tam final şartı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B9700B-0B84-4617-B4BA-DF40D6AB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Train: 500 doğru + 500 yanlış = 1000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Test: 50 doğru + 50 yanlış = 100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Gereken toplam: 550 doğru + 550 yanlış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Sonraki koşu: N_RUN 11150/1820 aralığına çıkarılacak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450783-4ED3-4D1A-8DD5-806D763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E0FD3-089D-4820-AD6F-F3F59A8E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3530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01B937-AD5D-4DBF-B05A-F7EC3641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Final ölçekte en güçlü model Random Forest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9193B-DC3E-4261-9A0F-FDEE0DB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1000 eğitim + 100 test. RF: F1=0.114214, AUC=0.11824. GB en yüksek AUC=0.111436.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7239000" cy="1695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4238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Logistic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0.6700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0.6393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0.7800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0.7027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0.7560</a:t>
                      </a:r>
                    </a:p>
                  </a:txBody>
                  <a:tcPr marL="91440" marR="91440" marT="45720" marB="45720"/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0.7400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0.6935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0.8600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0.7679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0.8032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Gradient Boosting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0.7300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0.6949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0.8200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0.7523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172A"/>
                          </a:solidFill>
                          <a:latin typeface="Aptos"/>
                          <a:ea typeface="Aptos"/>
                          <a:cs typeface="Aptos"/>
                        </a:rPr>
                        <a:t>0.7916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286750" y="1476375"/>
          <a:ext xmlns:a="http://schemas.openxmlformats.org/drawingml/2006/main" cx="31432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606ac525e74a3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A0425-61BF-4191-A7CC-615167D2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38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D2E36-5DC5-40FC-B76E-B8239901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Yorum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1BE5D-4360-4391-AD8C-F999C82F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F172A"/>
                </a:solidFill>
                <a:latin typeface="Aptos"/>
                <a:ea typeface="Aptos"/>
                <a:cs typeface="Aptos"/>
              </a:rPr>
              <a:t>Logistic Regression doğrusal karar sınırı kullandığı için sınırlı kaldı. Random Forest, mean_first10, mean_last10, q115 gibi özellikler arasındaki doğrusal olmayan etkileşimleri daha iyi yakaladı.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1EC69-4A0A-401A-9F03-96533DDC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19504-2341-4468-87B8-7DA655DB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1858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7B3029-EAF6-4C84-9418-73E9D5D7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Confusion matrix: Random Forest doğru sınıfı en az kaçırıyor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B9D3F-7281-4AEB-8226-D63D381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Test kümesi 50 doğru + 50 yanlış = 100 örnekten oluşan dengeli final settir.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4A2E4-A62C-4596-91A7-B5EDC401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7B2E6-3CE5-4A7F-8C61-864C6B34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C348E-F8DA-45BE-916C-00EF083A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78412-E200-409B-9387-295836D6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03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3788D-93A2-4808-873A-401DDFF7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90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9825C-5507-4AC5-B98D-A184842D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050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31A67-2729-4AA8-81D7-B9235F82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894CE-273B-45F3-8C71-C166201D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D608F-E62F-417E-A64C-175B0D9D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CCD7C-3341-406D-ACD4-D4AF6086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B61CC-58E9-4289-8B44-1F1D8671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12CE2-7EC5-4D61-9A82-D7F147EE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813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4C1DD-EBEA-4384-81B4-FBAF1851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46851-1DD4-4350-9023-53F3E95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34000-E5E2-4F9F-BB46-C9BB71A0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FP yüksek: yanlış cevapları doğru sanma riski daha fazla.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341FC-6BE5-45FA-A307-2BEED5A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CDEA6-36E2-4116-876F-ECBE5212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00A49-14C7-46CF-9371-3F15F57A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D1F88-DB83-4E16-9FDC-783AB47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628C0-A578-41DD-85A2-19C8ED24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31EF3-3356-4EAF-897F-74DBF21A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050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1417E-5905-4B97-998E-0E68A053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2375B-AF0B-44D5-83DA-69723955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90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1E1D4B-8239-4FF0-A970-B77EC4A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813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0BF23-F2D9-495C-A552-7DE64E1B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E30B7-EB1B-42FA-B32E-54B185D1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67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82D83-5751-47E2-87BD-EA5D6E7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813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BA43C4-B4D8-42F5-BF57-CE9CC56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8C756B-3E7D-4954-86E8-29B9A2A5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67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314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94CCE-5FD3-44AE-AA3C-DE82C966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En düşük FN: doğru cevapları kaçırma oranı en düşük.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0B98F-F4B6-49DF-AAC6-AC55923D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3238500" cy="3714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C61CD5-C725-4E88-9263-4C8DCED1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Gradient Boosting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A5C82-B80F-4E17-8275-F64ECB7E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4CD5B4-9846-4FDC-8794-76BB8B0E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299A01-4C1C-4CF9-90C0-27FAFE4B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0447B1-3A40-496C-9956-9269EEC4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FA1BB0-6C57-4EB8-944F-E65C8A54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FF5B1F-0A62-4215-B681-53203EB0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90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A0401D-5B2F-4421-B13D-3D4C1C77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16FAED-EEB1-48A0-9F96-2F0370A0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EEE1AB-F718-40F3-BD5E-5AAB78F6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67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76C6DD-4B8A-43EF-AFDB-4E91A9BD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91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CE712D-BDDA-413A-8357-C4AE6349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0EBC86-7980-4EF5-BE5F-455EBC8A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67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3449F3-378E-48B7-9910-EAB1D045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FP en düşük; RF'e yakın ama doğru sınıfta biraz daha fazla kaçırıyor.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EAF6E0-9556-4BE6-A5EC-702ED67A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24BDB9-B35E-4E02-8207-01D206B5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011</a:t>
            </a:r>
          </a:p>
        </p:txBody>
      </p:sp>
      <p:pic xmlns:a="http://schemas.openxmlformats.org/drawingml/2006/main" xmlns:r="http://schemas.openxmlformats.org/officeDocument/2006/relationships">
        <p:nvPicPr>
          <p:cNvPr id="50" name="Picture 49" descr="fig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20240"/>
            <a:ext cx="8595360" cy="264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22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EB2FFA-A27A-4DF5-A721-F0CF6AE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ROC-AUC sonuçları top1-top2 sinyalinin ayırt edici olduğunu gösteriyor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BC751-FB00-400A-BF6A-41ED210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Tüm modeller 0.115 üstünde AUC verdi; RF en yüksek değere ulaştı.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914400" y="1504950"/>
          <a:ext xmlns:a="http://schemas.openxmlformats.org/drawingml/2006/main" cx="6096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3e115f7da04d4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75EC6-3CA9-4631-B401-BA022B7D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42521-D482-482D-B164-7C49D5A3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Model seçimi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0005D-2D00-450E-963F-05EC6000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RF, F1 ve ROC-AUC metriklerinde lider.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GB çok yakın; ancak RF recall tarafında daha avantajlı.</a:t>
            </a:r>
          </a:p>
          <a:p xmlns:a="http://schemas.openxmlformats.org/drawingml/2006/main">
            <a:pPr>
              <a:defRPr sz="120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LR sinyal görüyor ama etkileşimleri yakalamakta zayıf kalıyor.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AF099-F0DE-4AB3-A1AC-C4892D72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sonuç: 1000+100 dengeli sette RF F1=0.7429, GB AUC=0.7936 ile en iyi AUC sağladı.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2C973-58E6-43FF-8EB8-D4E2B8D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D9217-CB7B-40CF-B183-57F01840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 xmlns:a="http://schemas.openxmlformats.org/drawingml/2006/main" xmlns:r="http://schemas.openxmlformats.org/officeDocument/2006/relationships">
        <p:nvPicPr>
          <p:cNvPr id="13" name="Picture 12" descr="fig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4572000" cy="390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19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50A9B9-321B-4D4E-ACE1-C878E725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Özellik önemleri: cevabın başı ve sonu belirleyici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B5BFD-948F-412F-8613-F53F621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Top1-top2 dizisinin yalnızca ortalaması değil, zamansal profili de tahminde kullanılıyor.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38200" y="1504950"/>
          <a:ext xmlns:a="http://schemas.openxmlformats.org/drawingml/2006/main" cx="6096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e9a88d8b87425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D0400-A0CD-4C59-9633-0A4ED07F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6515B-49E3-4778-B0CE-7C50947B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954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mean_first10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0E6D0-22D8-4B03-8F50-DF15E68B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Başlangıç güveni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0CFF0-7AB0-4B79-81A6-A97DD03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 doğru çözüm yoluna erken giriyorsa ilk tokenlarda daha kararlı davranıyor.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1CB32-58AF-4489-BCFA-E3491AFF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9B9DC-9E6E-42BE-B59F-71C87B4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19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mean_last10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00FA7-0F6D-4FF8-AB7E-C44D28F6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Son bölüm güveni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38613-A9DB-4B56-A12A-8D60014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475569"/>
                </a:solidFill>
                <a:latin typeface="Aptos"/>
                <a:ea typeface="Aptos"/>
                <a:cs typeface="Aptos"/>
              </a:rPr>
              <a:t>Nihai cevap yaklaştıkça güven profili doğru/yanlış ayrımında etkili oluyor.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6EEBF-9259-4EED-9624-73B5B591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CB97B-957B-4A23-A63E-F31F683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q115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BF259-CC18-4D49-8270-AC45C1A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1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Üst güven bandı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E1FFE-B2AD-4E82-AB59-CF3A512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19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475569"/>
                </a:solidFill>
                <a:latin typeface="Aptos"/>
                <a:ea typeface="Aptos"/>
                <a:cs typeface="Aptos"/>
              </a:rPr>
              <a:t>Dağılımın yüksek güven bölgesi doğru cevaplarla daha tutarlı görünüyor.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406E4-C808-441E-9535-37E8D841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C30CF-1610-4134-99C3-DD41A1E6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014</a:t>
            </a:r>
          </a:p>
        </p:txBody>
      </p:sp>
      <p:pic xmlns:a="http://schemas.openxmlformats.org/drawingml/2006/main" xmlns:r="http://schemas.openxmlformats.org/officeDocument/2006/relationships">
        <p:nvPicPr>
          <p:cNvPr id="21" name="Picture 20" descr="fig_feat_i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920240"/>
            <a:ext cx="8595360" cy="30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79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6FE9AF-083F-42A9-AB32-064A7A0D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Sınırlılıklar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0089F-1AAC-4F5A-8B17-282340A5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koşu tamamlandı. 1776 soru üretildi, 1000+100 dengeli set oluşturuldu.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EB9B9-D771-45DA-8B8A-4B5081B0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ED2E2-1743-481F-8CCC-EA30AE6F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Sınırlılıklar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857DE-C093-4B93-91CA-F8DDBFB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111116 koşusu ödevin tam dengeli hedefi için yeterli doğru sınıf üretmedi.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Think modeli uzun muhakeme yazabildiği için token sınırı cevap formatını etkileyebilir.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Ara ölçekte test 100 örnek; nihai tablo 1000 train + 100 test tamamlanınca güncellenmeli.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Tek model ve tek veri kümesi kullanılıyor; genelleme yorumu sınırlı.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BE9A2-60D8-431F-BC24-20D4F6E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2BD1F-EA8C-4531-BD25-0B7EB65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Final sonuçlar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40A5B-E63B-4A13-8C08-FE9B4076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Checkpointten devam: N_RUN 11150 → gerekirse 1820/1600.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Hedef: en az 550 doğru ve 550 yanlış kullanılabilir cevap.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Dengeleme: 500/500 train ve 50/50 test.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0F172A"/>
                </a:solidFill>
                <a:latin typeface="Aptos"/>
                <a:ea typeface="Aptos"/>
                <a:cs typeface="Aptos"/>
              </a:rPr>
              <a:t>• Aynı ML pipeline ile final metrikleri ve grafikler yeniden üretilecek.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FBD6F-C61F-448C-9990-515A8B20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Top1-top2 farkı, ek kaynak gerektirmeden modelin iç sinyalinden güven tahmini yapılabildiğini gösterdi.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14467-63D5-4724-8DEE-9F6AC458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4748B"/>
                </a:solidFill>
                <a:latin typeface="Aptos"/>
                <a:ea typeface="Aptos"/>
                <a:cs typeface="Aptos"/>
              </a:rPr>
              <a:t>Cosmos-T1 top1-top2 güven sinyali  ·  Betül Arslan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78A10-E9AD-410A-B2B3-41ADBF9B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65014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1CAE1-1EAF-4B20-8AC5-AFFEA82B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SONUÇ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E68A8-9E16-47B7-9C87-0668CE52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95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Top1-top2 farkı, cevap doğruluğu için kullanılabilir bir güven sinyali veriyor.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FF2C3-B738-4CDB-A3AF-0F626877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0D9BA-0B48-4519-BC7A-F5CD3641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970CB-EF95-4342-A24D-726C5A35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14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ölçekte RF lider (F1)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32B96-D930-4D8E-919E-4BCF737D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CBD5E1"/>
                </a:solidFill>
                <a:latin typeface="Aptos"/>
                <a:ea typeface="Aptos"/>
                <a:cs typeface="Aptos"/>
              </a:rPr>
              <a:t>F1=0.1161114 ve AUC=0.8032 ile en iyi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A6136-5BCE-4575-9963-A6177CF2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F81C9-C175-4166-AF1E-EA919459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57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C8756-DC3C-4F3E-94AB-3AFE2EF9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Sinyal doğrusal değil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504A6-47DB-4073-B060-4078D82B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766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CBD5E1"/>
                </a:solidFill>
                <a:latin typeface="Aptos"/>
                <a:ea typeface="Aptos"/>
                <a:cs typeface="Aptos"/>
              </a:rPr>
              <a:t>LR sinyal görüyor ama ağaç modelleri daha iyi kullanıyor.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D73B5-6748-46F1-9C05-B774854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304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BF5AE-B544-4C84-9E79-EEBC5427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57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E3DD0-99FB-440B-BD4D-4F53FD04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14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GB en yüksek 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90E0A-A5B0-462C-BC3E-35219B67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766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CBD5E1"/>
                </a:solidFill>
                <a:latin typeface="Aptos"/>
                <a:ea typeface="Aptos"/>
                <a:cs typeface="Aptos"/>
              </a:rPr>
              <a:t>551 doğru var; hedef 550 doğruya ulaşmak.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8F10C-535C-420B-ADF5-70DC4CFB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E2E8F0"/>
                </a:solidFill>
                <a:latin typeface="Aptos"/>
                <a:ea typeface="Aptos"/>
                <a:cs typeface="Aptos"/>
              </a:rPr>
              <a:t>Top1-top2 farkı, ek dış bilgi gerektirmeksizin modelin üretim sürecinden elde edilebilen güvenilir bir kalite göstergesidir.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A9A11-1C3F-47FA-A46B-E9626BB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706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2026-06-15T07:14:20.4200000Z</dcterms:created>
  <dcterms:modified xsi:type="dcterms:W3CDTF">2026-06-15T07:14:20.4200000Z</dcterms:modified>
</coreProperties>
</file>