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126a3084bec34309" Type="http://schemas.openxmlformats.org/package/2006/relationships/metadata/core-properties" Target="docProps/core.xml"/><Relationship Id="R9793ee4620974b06" Type="http://schemas.openxmlformats.org/officeDocument/2006/relationships/extended-properties" Target="docProps/app.xml"/><Relationship Id="R9f96ca3fffdb4017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fcb5442a2c45e5"/>
  </p:sldMasterIdLst>
  <p:notesMasterIdLst>
    <p:notesMasterId xmlns:r="http://schemas.openxmlformats.org/officeDocument/2006/relationships" r:id="R2394c24d9c6c483f"/>
  </p:notesMasterIdLst>
  <p:sldIdLst>
    <p:sldId xmlns:r="http://schemas.openxmlformats.org/officeDocument/2006/relationships" id="256" r:id="Rf22596731e2e4a92"/>
    <p:sldId xmlns:r="http://schemas.openxmlformats.org/officeDocument/2006/relationships" id="257" r:id="R0f3a817e99704397"/>
    <p:sldId xmlns:r="http://schemas.openxmlformats.org/officeDocument/2006/relationships" id="258" r:id="R4a0cce911db14147"/>
    <p:sldId xmlns:r="http://schemas.openxmlformats.org/officeDocument/2006/relationships" id="259" r:id="R4d254fa650c54b7a"/>
    <p:sldId xmlns:r="http://schemas.openxmlformats.org/officeDocument/2006/relationships" id="260" r:id="R0773b56e37474d40"/>
    <p:sldId xmlns:r="http://schemas.openxmlformats.org/officeDocument/2006/relationships" id="261" r:id="Ra9c8c4cb2a654843"/>
    <p:sldId xmlns:r="http://schemas.openxmlformats.org/officeDocument/2006/relationships" id="262" r:id="Rdaca18e666914bdc"/>
    <p:sldId xmlns:r="http://schemas.openxmlformats.org/officeDocument/2006/relationships" id="263" r:id="Rebd47fdeb08942eb"/>
    <p:sldId xmlns:r="http://schemas.openxmlformats.org/officeDocument/2006/relationships" id="264" r:id="Rb21719d46f5a4efc"/>
    <p:sldId xmlns:r="http://schemas.openxmlformats.org/officeDocument/2006/relationships" id="265" r:id="R1393400790bb485e"/>
    <p:sldId xmlns:r="http://schemas.openxmlformats.org/officeDocument/2006/relationships" id="266" r:id="R630f3a9f2f214a1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773b56e37474d40" Type="http://schemas.openxmlformats.org/officeDocument/2006/relationships/slide" Target="slides/slide5.xml"/><Relationship Id="R0f3a817e99704397" Type="http://schemas.openxmlformats.org/officeDocument/2006/relationships/slide" Target="slides/slide2.xml"/><Relationship Id="R1393400790bb485e" Type="http://schemas.openxmlformats.org/officeDocument/2006/relationships/slide" Target="slides/slide10.xml"/><Relationship Id="R2394c24d9c6c483f" Type="http://schemas.openxmlformats.org/officeDocument/2006/relationships/notesMaster" Target="notesMasters/notesMaster1.xml"/><Relationship Id="R452d9a9ed8094942" Type="http://schemas.openxmlformats.org/officeDocument/2006/relationships/theme" Target="theme/theme1.xml"/><Relationship Id="R4a0cce911db14147" Type="http://schemas.openxmlformats.org/officeDocument/2006/relationships/slide" Target="slides/slide3.xml"/><Relationship Id="R4d254fa650c54b7a" Type="http://schemas.openxmlformats.org/officeDocument/2006/relationships/slide" Target="slides/slide4.xml"/><Relationship Id="R630f3a9f2f214a17" Type="http://schemas.openxmlformats.org/officeDocument/2006/relationships/slide" Target="slides/slide11.xml"/><Relationship Id="R6efcb5442a2c45e5" Type="http://schemas.openxmlformats.org/officeDocument/2006/relationships/slideMaster" Target="slideMasters/slideMaster1.xml"/><Relationship Id="Ra9c8c4cb2a654843" Type="http://schemas.openxmlformats.org/officeDocument/2006/relationships/slide" Target="slides/slide6.xml"/><Relationship Id="Rb21719d46f5a4efc" Type="http://schemas.openxmlformats.org/officeDocument/2006/relationships/slide" Target="slides/slide9.xml"/><Relationship Id="Rbd3a5c7ca43947d2" Type="http://schemas.openxmlformats.org/officeDocument/2006/relationships/tableStyles" Target="tableStyles.xml"/><Relationship Id="Rdaca18e666914bdc" Type="http://schemas.openxmlformats.org/officeDocument/2006/relationships/slide" Target="slides/slide7.xml"/><Relationship Id="Rebd47fdeb08942eb" Type="http://schemas.openxmlformats.org/officeDocument/2006/relationships/slide" Target="slides/slide8.xml"/><Relationship Id="Rebf26e95f19d4b0c" Type="http://schemas.openxmlformats.org/officeDocument/2006/relationships/presProps" Target="presProps.xml"/><Relationship Id="Rf22596731e2e4a92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a4e89d4791d746a5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ab6a4acac05e4652" Type="http://schemas.openxmlformats.org/officeDocument/2006/relationships/slide" Target="../slides/slide1.xml"/><Relationship Id="Reb1573ccad8843c7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8c33d1b70b3b4ae0" Type="http://schemas.openxmlformats.org/officeDocument/2006/relationships/notesMaster" Target="../notesMasters/notesMaster1.xml"/><Relationship Id="Rb58f6f1ad34f4dfa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9d75232debdf43a6" Type="http://schemas.openxmlformats.org/officeDocument/2006/relationships/slide" Target="../slides/slide3.xml"/><Relationship Id="Ra981d22229574be8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106fa43751c14b0c" Type="http://schemas.openxmlformats.org/officeDocument/2006/relationships/slide" Target="../slides/slide4.xml"/><Relationship Id="Rccdd021d781441a7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0cf4dd497c4f4d67" Type="http://schemas.openxmlformats.org/officeDocument/2006/relationships/slide" Target="../slides/slide5.xml"/><Relationship Id="R9a6dca849551463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f70c27a3e8a447a0" Type="http://schemas.openxmlformats.org/officeDocument/2006/relationships/notesMaster" Target="../notesMasters/notesMaster1.xml"/><Relationship Id="Rf79b464d0939448b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0508898d6e94460a" Type="http://schemas.openxmlformats.org/officeDocument/2006/relationships/notesMaster" Target="../notesMasters/notesMaster1.xml"/><Relationship Id="Rddd47d7617364ba6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93da32bb71744ff" Type="http://schemas.openxmlformats.org/officeDocument/2006/relationships/slide" Target="../slides/slide8.xml"/><Relationship Id="Rd428885a144f461f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2d5c16a34435473f" Type="http://schemas.openxmlformats.org/officeDocument/2006/relationships/slide" Target="../slides/slide9.xml"/><Relationship Id="Rd355b65e5fce43b6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4b68a953584f4b73" Type="http://schemas.openxmlformats.org/officeDocument/2006/relationships/notesMaster" Target="../notesMasters/notesMaster1.xml"/><Relationship Id="Ra7073d639dcb4e46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269228a2096b4b6a" Type="http://schemas.openxmlformats.org/officeDocument/2006/relationships/slide" Target="../slides/slide11.xml"/><Relationship Id="Rf4a89387791048dc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931207fc600453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52855a205a409a" Type="http://schemas.openxmlformats.org/officeDocument/2006/relationships/slideLayout" Target="../slideLayouts/slideLayout1.xml"/><Relationship Id="R31231fed6fad4aeb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52855a205a40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03c286671a04536" Type="http://schemas.openxmlformats.org/officeDocument/2006/relationships/notesSlide" Target="../notesSlides/notesSlide1.xml"/><Relationship Id="Rac5bbf34c023467f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95907c1ac0944f49" Type="http://schemas.openxmlformats.org/officeDocument/2006/relationships/slideLayout" Target="../slideLayouts/slideLayout1.xml"/><Relationship Id="R9912008e1a2b447e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3968d2ff0f24601" Type="http://schemas.openxmlformats.org/officeDocument/2006/relationships/slideLayout" Target="../slideLayouts/slideLayout1.xml"/><Relationship Id="R5a2a9478c728462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0c857249367f49e4" Type="http://schemas.openxmlformats.org/officeDocument/2006/relationships/slideLayout" Target="../slideLayouts/slideLayout1.xml"/><Relationship Id="R7af5d72a928348cb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f59f506dfc84856" Type="http://schemas.openxmlformats.org/officeDocument/2006/relationships/slideLayout" Target="../slideLayouts/slideLayout1.xml"/><Relationship Id="Rc894c2c536d64e91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72d5314698be4e78" Type="http://schemas.openxmlformats.org/officeDocument/2006/relationships/slideLayout" Target="../slideLayouts/slideLayout1.xml"/><Relationship Id="R9d606ac525e74a3f" Type="http://schemas.openxmlformats.org/officeDocument/2006/relationships/chart" Target="charts/chart1.xml"/><Relationship Id="Rb436c25ce826436d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8684e469ab664021" Type="http://schemas.openxmlformats.org/officeDocument/2006/relationships/notesSlide" Target="../notesSlides/notesSlide7.xml"/><Relationship Id="R9e14036e54854127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1464e99da4f746fb" Type="http://schemas.openxmlformats.org/officeDocument/2006/relationships/notesSlide" Target="../notesSlides/notesSlide8.xml"/><Relationship Id="R853e115f7da04d48" Type="http://schemas.openxmlformats.org/officeDocument/2006/relationships/chart" Target="charts/chart2.xml"/><Relationship Id="Rd7ec553212864333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0ae9a88d8b87425d" Type="http://schemas.openxmlformats.org/officeDocument/2006/relationships/chart" Target="charts/chart3.xml"/><Relationship Id="R9d03fe09af614843" Type="http://schemas.openxmlformats.org/officeDocument/2006/relationships/notesSlide" Target="../notesSlides/notesSlide9.xml"/><Relationship Id="Rb353f965d6ec440a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06f6ae2714bd4f13" Type="http://schemas.openxmlformats.org/officeDocument/2006/relationships/notesSlide" Target="../notesSlides/notesSlide10.xml"/><Relationship Id="Rdff1b4436778451d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a959cbdf70d04274" Type="http://schemas.openxmlformats.org/officeDocument/2006/relationships/slideLayout" Target="../slideLayouts/slideLayout1.xml"/><Relationship Id="Rf9503bab9a194c09" Type="http://schemas.openxmlformats.org/officeDocument/2006/relationships/notesSlide" Target="../notesSlides/notesSlide11.xml"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grouping val="clustered"/>
        <c:varyColors val="0"/>
        <c:ser>
          <c:idx val="0"/>
          <c:order val="0"/>
          <c:tx>
            <c:v>F1-score</c:v>
          </c:tx>
          <c:spPr>
            <a:solidFill xmlns:a="http://schemas.openxmlformats.org/drawingml/2006/main">
              <a:srgbClr val="0F766E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LR</c:v>
              </c:pt>
              <c:pt idx="1">
                <c:v>RF</c:v>
              </c:pt>
              <c:pt idx="2">
                <c:v>GB</c:v>
              </c:pt>
            </c:strLit>
          </c:cat>
          <c:val>
            <c:numLit>
              <c:formatCode>0.00</c:formatCode>
              <c:ptCount val="3"/>
              <c:pt idx="0">
                <c:v>0.7027</c:v>
              </c:pt>
              <c:pt idx="1">
                <c:v>0.7679</c:v>
              </c:pt>
              <c:pt idx="2">
                <c:v>0.7523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475569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85"/>
          <c:min val="0.6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75569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roundedCorners val="0"/>
  <c:chart>
    <c:plotArea>
      <c:layout/>
      <c:barChart>
        <c:barDir val="bar"/>
        <c:grouping val="clustered"/>
        <c:varyColors val="0"/>
        <c:ser>
          <c:idx val="0"/>
          <c:order val="0"/>
          <c:tx>
            <c:v>ROC-AUC</c:v>
          </c:tx>
          <c:spPr>
            <a:solidFill xmlns:a="http://schemas.openxmlformats.org/drawingml/2006/main">
              <a:srgbClr val="1D4ED8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Logistic Regression</c:v>
              </c:pt>
              <c:pt idx="1">
                <c:v>Random Forest</c:v>
              </c:pt>
              <c:pt idx="2">
                <c:v>Gradient Boosting</c:v>
              </c:pt>
            </c:strLit>
          </c:cat>
          <c:val>
            <c:numLit>
              <c:formatCode>General</c:formatCode>
              <c:ptCount val="3"/>
              <c:pt idx="0">
                <c:v>0.756</c:v>
              </c:pt>
              <c:pt idx="1">
                <c:v>0.8032</c:v>
              </c:pt>
              <c:pt idx="2">
                <c:v>0.7916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75569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F172A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charts/chart3.xml><?xml version="1.0" encoding="utf-8"?>
<c:chartSpace xmlns:c="http://schemas.openxmlformats.org/drawingml/2006/chart">
  <c:lang val="en-US"/>
  <c:roundedCorners val="0"/>
  <c:chart>
    <c:plotArea>
      <c:layout/>
      <c:barChart>
        <c:barDir val="bar"/>
        <c:grouping val="clustered"/>
        <c:varyColors val="0"/>
        <c:ser>
          <c:idx val="0"/>
          <c:order val="0"/>
          <c:tx>
            <c:v>Importance</c:v>
          </c:tx>
          <c:spPr>
            <a:solidFill xmlns:a="http://schemas.openxmlformats.org/drawingml/2006/main">
              <a:srgbClr val="0F766E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5"/>
              <c:pt idx="0">
                <c:v>mean_first10</c:v>
              </c:pt>
              <c:pt idx="1">
                <c:v>mean_last10</c:v>
              </c:pt>
              <c:pt idx="2">
                <c:v>q75</c:v>
              </c:pt>
              <c:pt idx="3">
                <c:v>median</c:v>
              </c:pt>
              <c:pt idx="4">
                <c:v>min_region_mean</c:v>
              </c:pt>
            </c:strLit>
          </c:cat>
          <c:val>
            <c:numLit>
              <c:formatCode>General</c:formatCode>
              <c:ptCount val="5"/>
              <c:pt idx="0">
                <c:v>0.147</c:v>
              </c:pt>
              <c:pt idx="1">
                <c:v>0.107</c:v>
              </c:pt>
              <c:pt idx="2">
                <c:v>0.095</c:v>
              </c:pt>
              <c:pt idx="3">
                <c:v>0.086</c:v>
              </c:pt>
              <c:pt idx="4">
                <c:v>0.082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75569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172A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658665-6749-4F11-B8F7-665DF91D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FDCB3A-1CF0-4314-AE22-6D57BC63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3C7A40-AFA6-4162-A0A2-8644CC2F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HESAPLAMALI ANLAMBILIM FINAL PROJESI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EBEC04-C4DC-4254-97A6-08848020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7239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Top1-top2 olasılık farkı ile</a:t>
            </a:r>
          </a:p>
          <a:p xmlns:a="http://schemas.openxmlformats.org/drawingml/2006/main">
            <a:pPr>
              <a:defRPr sz="37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cevap doğruluğu tahmini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0D0C11-8030-4F3E-BDE1-E9F6590F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475569"/>
                </a:solidFill>
                <a:latin typeface="Aptos"/>
                <a:ea typeface="Aptos"/>
                <a:cs typeface="Aptos"/>
              </a:rPr>
              <a:t>Cosmos-T1 modelinin GSM8K-TR sorularındaki üretim güven sinyalini klasik ML modelleriyle sınıflandırma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779CF7-9925-4E2A-8D94-2E342475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33500"/>
            <a:ext cx="2571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36CF6A-0766-4111-AA01-F94697782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54305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D4ED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D4ED8"/>
                </a:solidFill>
                <a:latin typeface="Aptos Display"/>
                <a:ea typeface="Aptos Display"/>
                <a:cs typeface="Aptos Display"/>
              </a:rPr>
              <a:t>1776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74FF9C-CA5B-4BA6-9036-182D1410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76450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Üretilen soru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AB1438-7563-45A2-9684-1D695803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343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>
                <a:solidFill>
                  <a:srgbClr val="475569"/>
                </a:solidFill>
                <a:latin typeface="Aptos"/>
                <a:ea typeface="Aptos"/>
                <a:cs typeface="Aptos"/>
              </a:rPr>
              <a:t>Final koşu tamamlandı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5A5D36-B0F4-4B9F-B612-125AD400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52750"/>
            <a:ext cx="2571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2493F3-1A04-4C70-B919-D8AFC1F3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1623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551 / 1225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A33F80-3BDA-44B0-BEA3-374C0C3DE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829050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Doğru / yanlış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B4C427-0241-4DB2-9FA8-7B6C7FF8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95750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>
                <a:solidFill>
                  <a:srgbClr val="475569"/>
                </a:solidFill>
                <a:latin typeface="Aptos"/>
                <a:ea typeface="Aptos"/>
                <a:cs typeface="Aptos"/>
              </a:rPr>
              <a:t>1000 train + 100 test hazır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22F815-B5DE-453C-AD8C-F942EBF94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0"/>
            <a:ext cx="2571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84B884-2815-4C2E-81B3-2A763D76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8155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Random Forest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F69368-2AEB-4954-9A7F-4AD290C1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448300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En iyi final 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52C1A8-E084-4388-8ACD-528DD17F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15000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>
                <a:solidFill>
                  <a:srgbClr val="475569"/>
                </a:solidFill>
                <a:latin typeface="Aptos"/>
                <a:ea typeface="Aptos"/>
                <a:cs typeface="Aptos"/>
              </a:rPr>
              <a:t>RF: F1=0.7429 · AUC=0.7824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0D4412-8CD7-46BE-96B3-3E25BEABE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475569"/>
                </a:solidFill>
                <a:latin typeface="Aptos"/>
                <a:ea typeface="Aptos"/>
                <a:cs typeface="Aptos"/>
              </a:rPr>
              <a:t>Betül Arslan  ·  Turkish-Gemma-9B-T1  ·  ytu-ce-cosmos/gsm8k_tr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DC0D77-FD50-4940-B229-0363F428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64748B"/>
                </a:solidFill>
                <a:latin typeface="Aptos"/>
                <a:ea typeface="Aptos"/>
                <a:cs typeface="Aptos"/>
              </a:rPr>
              <a:t>Cosmos-T1 top1-top2 güven sinyali  ·  Betül Arslan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D045D3-A97D-476A-B463-962EEA64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960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061404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241E27-D812-4223-A3DF-B7A0325F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33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Araştırma sorusu: modelin güven izi doğru cevabı haber veriyor mu?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57B508-A5AE-4EAB-ACDB-2228CF2B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475569"/>
                </a:solidFill>
                <a:latin typeface="Aptos"/>
                <a:ea typeface="Aptos"/>
                <a:cs typeface="Aptos"/>
              </a:rPr>
              <a:t>Token düzeyindeki olasılık farklarını, cevap düzeyinde doğru/yanlış tahmini için kullanıyoruz.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D7A435-D27E-4A50-B3CA-FA933FE0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304FF-14EB-4BB4-8655-FC0F31554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HIPOTEZ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CC28FE-8DF9-4CA4-A93C-1324FDAF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98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Doğru cevaplarda modelin token seçimi daha kararlı olur.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9C921E-5331-410D-B57C-A18CBAC1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Top1-top2 farkı büyükse model ilk token seçimine daha emindir.</a:t>
            </a:r>
          </a:p>
          <a:p xmlns:a="http://schemas.openxmlformats.org/drawingml/2006/main">
            <a:pPr>
              <a:defRPr sz="120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Yanlış cevaplarda fark dizisi daha değişken ya da düşük olabilir.</a:t>
            </a:r>
          </a:p>
          <a:p xmlns:a="http://schemas.openxmlformats.org/drawingml/2006/main">
            <a:pPr>
              <a:defRPr sz="120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Bu sinyal doğrudan cevabı okumadan güven tahmini sağlar.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A9B79B-7D5D-447C-BBB2-ACAFF3CA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00200"/>
            <a:ext cx="47244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BB057A-8AE8-4457-AAE1-B7142531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859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D4ED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SINIFLANDIRMA HEDEFI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555800-8C9D-4619-A1EC-27DA143A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98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Her soru için tek etiket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EB9CB2-A03A-446A-9D84-9E0E4434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241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1 = modelin sayısal cevabı doğru</a:t>
            </a:r>
          </a:p>
          <a:p xmlns:a="http://schemas.openxmlformats.org/drawingml/2006/main"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0 = modelin sayısal cevabı yanlış</a:t>
            </a:r>
          </a:p>
          <a:p xmlns:a="http://schemas.openxmlformats.org/drawingml/2006/main"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Girdi: top1-top2 dizisinden 18 istatistiksel özellik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2774A9-8035-42D6-ACBF-CE0F39CD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Neden önemli?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71C9D3-1E7E-403C-890D-B9AA5BAB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0F172A"/>
                </a:solidFill>
                <a:latin typeface="Aptos"/>
                <a:ea typeface="Aptos"/>
                <a:cs typeface="Aptos"/>
              </a:rPr>
              <a:t>Bu yaklaşım, büyük dil modelinin metin çıktısından bağımsız olarak üretim sürecindeki belirsizlik bilgisini ölçer. Böylece cevabı otomatik kontrol edemediğimiz durumlarda güven temelli uyarı mekanizması kurulabilir.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AE1446-1B73-4E7C-984A-C66D4D29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64748B"/>
                </a:solidFill>
                <a:latin typeface="Aptos"/>
                <a:ea typeface="Aptos"/>
                <a:cs typeface="Aptos"/>
              </a:rPr>
              <a:t>Cosmos-T1 top1-top2 güven sinyali  ·  Betül Arslan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F6BDE0-6976-4501-9E9C-616EC93B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960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423885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D003B7-6F0A-43CB-82AA-442D7B982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33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Uçtan uca akış: üretimden ML değerlendirmesine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016F42-26B5-4482-9DD0-27A0F263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475569"/>
                </a:solidFill>
                <a:latin typeface="Aptos"/>
                <a:ea typeface="Aptos"/>
                <a:cs typeface="Aptos"/>
              </a:rPr>
              <a:t>Her aşama checkpointlenebilir; Colab kesilirse JSON çıktısından devam edilir.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119209-3A2D-471E-ACDE-2A8EF9D3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1619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6A39AB-03F6-4855-9824-3AECB268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14550"/>
            <a:ext cx="1276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GSM8K-TR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DFCBF4-C77F-47D7-B61D-CDA140A60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127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475569"/>
                </a:solidFill>
                <a:latin typeface="Aptos"/>
                <a:ea typeface="Aptos"/>
                <a:cs typeface="Aptos"/>
              </a:rPr>
              <a:t>Türkçe matematik soruları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D3F890-C34B-4893-9953-6040509E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286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5B101E-FF9E-4D86-8996-58B3A92B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09750"/>
            <a:ext cx="1619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D2FCAE-5B40-4938-9D7D-379F0EF5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114550"/>
            <a:ext cx="1276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Cosmos-T1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9E683A-D9FA-4707-967E-616C3AA8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571750"/>
            <a:ext cx="127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475569"/>
                </a:solidFill>
                <a:latin typeface="Aptos"/>
                <a:ea typeface="Aptos"/>
                <a:cs typeface="Aptos"/>
              </a:rPr>
              <a:t>Greedy cevap üretimi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A545C7-1FC2-455D-9090-01735A4D4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86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1FF862-8D86-449F-B441-F0437682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09750"/>
            <a:ext cx="1619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98070A-3776-47A7-AF85-CE7BDBA6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114550"/>
            <a:ext cx="1276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Top1-top2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468832-74A2-4B2C-9796-5096C37E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571750"/>
            <a:ext cx="127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475569"/>
                </a:solidFill>
                <a:latin typeface="Aptos"/>
                <a:ea typeface="Aptos"/>
                <a:cs typeface="Aptos"/>
              </a:rPr>
              <a:t>Her token için δ(t)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EB3D9E-5DBD-4201-816C-DC4B2A02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86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F3AF26-0AA4-4D6D-9CBD-DE3D2F3D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9750"/>
            <a:ext cx="1619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7CAC98-FBB7-4080-9C95-CD6F42BE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114550"/>
            <a:ext cx="1276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18 özellik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323643-6D84-46DF-B286-A11B3AF3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71750"/>
            <a:ext cx="127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475569"/>
                </a:solidFill>
                <a:latin typeface="Aptos"/>
                <a:ea typeface="Aptos"/>
                <a:cs typeface="Aptos"/>
              </a:rPr>
              <a:t>Sabit uzunluklu vektör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546289-3B9C-4553-8832-067BF836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286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6205E4-EEFE-4F6E-A630-85ADBEB32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09750"/>
            <a:ext cx="1619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D71992-1592-46C5-958D-F8AADB4C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114550"/>
            <a:ext cx="1276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ML modelleri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1C6FA2-1815-403A-A832-13A059AD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71750"/>
            <a:ext cx="127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475569"/>
                </a:solidFill>
                <a:latin typeface="Aptos"/>
                <a:ea typeface="Aptos"/>
                <a:cs typeface="Aptos"/>
              </a:rPr>
              <a:t>LR · RF · GB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0721EB-FBCC-46F0-B77E-6B9735C9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0"/>
            <a:ext cx="9810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21EDF1-3FDE-4914-A4D3-E4382EA9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8625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D4ED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Değerlendirme metrikleri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0866BE-3DCA-4A5B-8774-FDD83217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Confusion matrix: yanlış/doğru sınıf hatalarını ayrı görür.</a:t>
            </a:r>
          </a:p>
          <a:p xmlns:a="http://schemas.openxmlformats.org/drawingml/2006/main"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Accuracy, Precision, Recall, F1-score: sınıflandırma başarısını özetler.</a:t>
            </a:r>
          </a:p>
          <a:p xmlns:a="http://schemas.openxmlformats.org/drawingml/2006/main"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ROC-AUC: eşik değişse bile modelin ayırma gücünü ölçer.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B3657D-EB7D-4F09-A0EA-DF2034CB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64748B"/>
                </a:solidFill>
                <a:latin typeface="Aptos"/>
                <a:ea typeface="Aptos"/>
                <a:cs typeface="Aptos"/>
              </a:rPr>
              <a:t>Cosmos-T1 top1-top2 güven sinyali  ·  Betül Arslan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F7F1B3-54BF-4EEE-997A-363EA17B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960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28281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91B4F3-1D34-41FA-AC65-A20874AC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33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Top1-top2 farkı cevap boyunca bir güven zaman serisidir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5552FE-4E53-4232-9E58-C46B0C85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475569"/>
                </a:solidFill>
                <a:latin typeface="Aptos"/>
                <a:ea typeface="Aptos"/>
                <a:cs typeface="Aptos"/>
              </a:rPr>
              <a:t>Değişken uzunluklu token dizisi, istatistiksel özetlerle sabit boyutlu özellik vektörüne çevrilir.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D5014D-B0F4-4F51-8FA5-E83BA548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4762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22009C-07D6-4C0A-8476-4048450D1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5262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δ(t) = P(top₁,t) − P(top₂,t)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92D155-61C5-45DB-A54F-E3CF37F8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475569"/>
                </a:solidFill>
                <a:latin typeface="Aptos"/>
                <a:ea typeface="Aptos"/>
                <a:cs typeface="Aptos"/>
              </a:rPr>
              <a:t>δ büyük: modelin birinci token seçimi baskın</a:t>
            </a:r>
          </a:p>
          <a:p xmlns:a="http://schemas.openxmlformats.org/drawingml/2006/main">
            <a:pPr algn="ctr">
              <a:defRPr sz="127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475569"/>
                </a:solidFill>
                <a:latin typeface="Aptos"/>
                <a:ea typeface="Aptos"/>
                <a:cs typeface="Aptos"/>
              </a:rPr>
              <a:t>δ küçük: alternatif tokenlar birbirine yakın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E9C751-3760-454D-A341-8BB18478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04950"/>
            <a:ext cx="4762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620FAE-219B-4315-AFBE-3DD707BE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907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D4ED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Kayıt yöntemi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4D0F0A-F973-4E0E-B5FC-40646B43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90750"/>
            <a:ext cx="400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LogitsProcessor ile her adımda top-2 olasılık farkı kaydedilir.</a:t>
            </a:r>
          </a:p>
          <a:p xmlns:a="http://schemas.openxmlformats.org/drawingml/2006/main">
            <a:pPr>
              <a:defRPr sz="120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Tüm score geçmişini saklamak gerekmez.</a:t>
            </a:r>
          </a:p>
          <a:p xmlns:a="http://schemas.openxmlformats.org/drawingml/2006/main">
            <a:pPr>
              <a:defRPr sz="120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Bu yöntem bellek kullanımını ve Colab riskini azaltır.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6FE6B4-BC93-48A1-846B-743AB142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Özellik aileleri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142E19-1BDD-4EBF-870A-AD7F9AEB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26D77E-98B9-4F71-A5AD-1AD12FF7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005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mean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A4AD38-FF42-44CC-90B0-D3FA2B61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343400"/>
            <a:ext cx="10096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A7315F-24D9-4C91-902C-81907CDC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00550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median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7F4FE3-4B7C-4B9E-89D2-39182326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343400"/>
            <a:ext cx="781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7609A0-E316-4F68-98A0-089E0644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400550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std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146DC6-A1BB-4A8E-9062-1C914262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43400"/>
            <a:ext cx="781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84ABE8-520D-4AB5-AC7E-7CCAFBC7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400550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CBA92F-14A4-40E8-8AA7-74084AD9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43400"/>
            <a:ext cx="781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126DFF-95FB-41C9-ACFD-F1BD8790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00550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max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461B44-EF6B-4B4D-8D30-0EC0D239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343400"/>
            <a:ext cx="781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884D8C-FF1D-448E-933D-0319B0A2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400550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q25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FF22DC-237F-473B-8054-BDF0E29B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43400"/>
            <a:ext cx="781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C0AC4A-3A58-4825-A698-4C6E4435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400550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q75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0F0B60-472E-48A3-98A7-E0401405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343400"/>
            <a:ext cx="781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A002BB-1A1C-4438-88C3-20264744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00550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IQR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370D4D-AD14-4966-949A-1FAA5990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34340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F4DEF5-31D8-4117-9F63-B2158AD4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005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skew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A03A37-C798-46B8-A306-9ECAE542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343400"/>
            <a:ext cx="1162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DC6971-39BE-4615-BC63-37E31331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400550"/>
            <a:ext cx="895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kurtosis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D500C5-619C-496C-A0D6-D7E91615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2000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415A2F-5B37-4E5B-AF8E-206BF7D1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38700"/>
            <a:ext cx="1733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low/medium/high oran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DACB7D-9365-41B5-A7FB-EA873C9D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781550"/>
            <a:ext cx="1466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E0E9F69-5F67-43A3-97CF-CEE4347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838700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mean_first10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D4A1C3-1465-4654-AB78-E7D5F149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781550"/>
            <a:ext cx="13906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BF1FE9-9510-4D35-9FC0-DA415C2B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3870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mean_last10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99E0F3-A706-4337-82D1-BD127C1E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781550"/>
            <a:ext cx="9334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C0F9E07-DA20-4DA0-921F-BE1B460A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3870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trend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F605A5A-5037-4688-B678-EB1BC482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81550"/>
            <a:ext cx="1162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8F8D4A-DB27-436D-B784-0A9B9793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838700"/>
            <a:ext cx="895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n_tokens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CB2893-94DE-436C-BEBD-E4F4EF88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64748B"/>
                </a:solidFill>
                <a:latin typeface="Aptos"/>
                <a:ea typeface="Aptos"/>
                <a:cs typeface="Aptos"/>
              </a:rPr>
              <a:t>Cosmos-T1 top1-top2 güven sinyali  ·  Betül Arslan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0A8D0E-B3E4-42E0-A69A-790B8C94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960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428086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A04762-8300-45A5-AB8E-9D1FE98D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33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Final veri tamamlandı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090F93-1871-426B-A3E1-8D63205B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475569"/>
                </a:solidFill>
                <a:latin typeface="Aptos"/>
                <a:ea typeface="Aptos"/>
                <a:cs typeface="Aptos"/>
              </a:rPr>
              <a:t>1776 soru üretildi. 551 doğru, 1225 yanlış. Dengeli set oluşturuldu.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2BA1BF-9931-4672-B526-951F6E35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22860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113AC-50F0-47F1-B4FF-5DAE783C7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1828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D4ED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D4ED8"/>
                </a:solidFill>
                <a:latin typeface="Aptos Display"/>
                <a:ea typeface="Aptos Display"/>
                <a:cs typeface="Aptos Display"/>
              </a:rPr>
              <a:t>1776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D13547-54A7-4B79-84BE-134DAE5C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Toplam üretilen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3E111D-24F3-401C-AC08-731AD87D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3650"/>
            <a:ext cx="1828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>
                <a:solidFill>
                  <a:srgbClr val="475569"/>
                </a:solidFill>
                <a:latin typeface="Aptos"/>
                <a:ea typeface="Aptos"/>
                <a:cs typeface="Aptos"/>
              </a:rPr>
              <a:t>Checkpoint: cosmos_t1_final_l4.json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EA6957-F790-43DE-91FE-70A72E6E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524000"/>
            <a:ext cx="22860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934FF7-AB8A-4843-A00B-04470A1D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733550"/>
            <a:ext cx="1828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551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EC2D19-6CD9-4F16-BF08-DFD3B282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6695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Doğru cevap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712B3F-ACA4-41C3-9D9E-C2F9B79F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33650"/>
            <a:ext cx="1828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>
                <a:solidFill>
                  <a:srgbClr val="475569"/>
                </a:solidFill>
                <a:latin typeface="Aptos"/>
                <a:ea typeface="Aptos"/>
                <a:cs typeface="Aptos"/>
              </a:rPr>
              <a:t>Hedef aşıldı 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083D68-3DE8-42FB-BD7F-D5006E71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524000"/>
            <a:ext cx="22860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9E8D1E-892B-45FB-B2DF-41E8E55C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733550"/>
            <a:ext cx="1828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1225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0D2290-03BC-4E66-88D9-74CD9AF1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6695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Yanlış cevap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89DD75-3F6F-46A0-9528-B57A5BC7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33650"/>
            <a:ext cx="1828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>
                <a:solidFill>
                  <a:srgbClr val="475569"/>
                </a:solidFill>
                <a:latin typeface="Aptos"/>
                <a:ea typeface="Aptos"/>
                <a:cs typeface="Aptos"/>
              </a:rPr>
              <a:t>Hedef aşıldı 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B1316B-7694-4687-8372-FDB73712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524000"/>
            <a:ext cx="22860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128814-4A63-4B9F-B426-66C17363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733550"/>
            <a:ext cx="1828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EE7383-6F27-4CA6-A56B-C7FDB4E3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26695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Eksik yok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C54007-E74E-40A6-97A5-82411CBE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533650"/>
            <a:ext cx="1828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>
                <a:solidFill>
                  <a:srgbClr val="475569"/>
                </a:solidFill>
                <a:latin typeface="Aptos"/>
                <a:ea typeface="Aptos"/>
                <a:cs typeface="Aptos"/>
              </a:rPr>
              <a:t>Final set hazır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6613B7-8441-4275-89E2-9D34FD67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490537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633C20-8AC2-42C7-B142-B6E8D5FD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33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D4ED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Final dengeli set</a:t>
            </a:r>
          </a:p>
        </p:txBody>
      </p:sp>
      <p:graphicFrame>
        <p:nvGraphicFramePr>
          <p:cNvPr id="47" name=""/>
          <p:cNvGraphicFramePr/>
          <p:nvPr/>
        </p:nvGraphicFramePr>
        <p:xfrm>
          <a:off xmlns:a="http://schemas.openxmlformats.org/drawingml/2006/main" x="971550" y="4210050"/>
          <a:ext xmlns:a="http://schemas.openxmlformats.org/drawingml/2006/main" cx="4333875" cy="8191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083469"/>
                <a:gridCol w="1083469"/>
                <a:gridCol w="1083469"/>
                <a:gridCol w="1083469"/>
              </a:tblGrid>
              <a:tr h="20478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Küme</a:t>
                      </a:r>
                    </a:p>
                  </a:txBody>
                  <a:tcPr marL="91440" marR="91440" marT="45720" marB="4572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Doğru</a:t>
                      </a:r>
                    </a:p>
                  </a:txBody>
                  <a:tcPr marL="91440" marR="91440" marT="45720" marB="4572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Yanlış</a:t>
                      </a:r>
                    </a:p>
                  </a:txBody>
                  <a:tcPr marL="91440" marR="91440" marT="45720" marB="4572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Toplam</a:t>
                      </a:r>
                    </a:p>
                  </a:txBody>
                  <a:tcPr marL="91440" marR="91440" marT="45720" marB="45720">
                    <a:solidFill>
                      <a:srgbClr val="1D4ED8"/>
                    </a:solidFill>
                  </a:tcPr>
                </a:tc>
              </a:tr>
              <a:tr h="20478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Eğitim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320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320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640</a:t>
                      </a:r>
                    </a:p>
                  </a:txBody>
                  <a:tcPr marL="91440" marR="91440" marT="45720" marB="45720"/>
                </a:tc>
              </a:tr>
              <a:tr h="20478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Test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50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50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100</a:t>
                      </a:r>
                    </a:p>
                  </a:txBody>
                  <a:tcPr marL="91440" marR="91440" marT="45720" marB="45720"/>
                </a:tc>
              </a:tr>
              <a:tr h="20478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Toplam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370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370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740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D7E89C-DC54-4163-B601-B1D70405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76625"/>
            <a:ext cx="490537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DE68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DD8032-D652-49CE-8B9E-F181522E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338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Ödevin tam final şartı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B9700B-0B84-4617-B4BA-DF40D6AB9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Train: 500 doğru + 500 yanlış = 1000</a:t>
            </a:r>
          </a:p>
          <a:p xmlns:a="http://schemas.openxmlformats.org/drawingml/2006/main">
            <a:pPr>
              <a:defRPr sz="120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Test: 50 doğru + 50 yanlış = 100</a:t>
            </a:r>
          </a:p>
          <a:p xmlns:a="http://schemas.openxmlformats.org/drawingml/2006/main">
            <a:pPr>
              <a:defRPr sz="120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Hedef aşıldı: 551 doğru + 1225 yanlış</a:t>
            </a:r>
          </a:p>
          <a:p xmlns:a="http://schemas.openxmlformats.org/drawingml/2006/main">
            <a:pPr>
              <a:defRPr sz="120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Sonraki koşu: N_RUN 1750/1820 aralığına çıkarılacak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450783-4ED3-4D1A-8DD5-806D763F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64748B"/>
                </a:solidFill>
                <a:latin typeface="Aptos"/>
                <a:ea typeface="Aptos"/>
                <a:cs typeface="Aptos"/>
              </a:rPr>
              <a:t>Cosmos-T1 top1-top2 güven sinyali  ·  Betül Arslan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FE0FD3-089D-4820-AD6F-F3F59A8E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960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035309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01B937-AD5D-4DBF-B05A-F7EC3641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33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Final sonuçlar: RF ve GB karşılaştırması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29193B-DC3E-4261-9A0F-FDEE0DB4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475569"/>
                </a:solidFill>
                <a:latin typeface="Aptos"/>
                <a:ea typeface="Aptos"/>
                <a:cs typeface="Aptos"/>
              </a:rPr>
              <a:t>1000 eğitim + 100 test.
F1 ve Accuracy'ye göre → RF en iyi (F1=0.743, Acc=0.73)
AUC'ye göre → GB en iyi (AUC=0.794)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1562100"/>
          <a:ext xmlns:a="http://schemas.openxmlformats.org/drawingml/2006/main" cx="7239000" cy="16954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206500"/>
                <a:gridCol w="1206500"/>
                <a:gridCol w="1206500"/>
                <a:gridCol w="1206500"/>
                <a:gridCol w="1206500"/>
                <a:gridCol w="1206500"/>
              </a:tblGrid>
              <a:tr h="423863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Precision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Recall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F1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ROC-AUC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</a:tr>
              <a:tr h="423863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Logistic Regression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0.6700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0.6393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0.7800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0.7027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0.7560</a:t>
                      </a:r>
                    </a:p>
                  </a:txBody>
                  <a:tcPr marL="91440" marR="91440" marT="45720" marB="45720"/>
                </a:tc>
              </a:tr>
              <a:tr h="423863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Random Forest</a:t>
                      </a:r>
                    </a:p>
                  </a:txBody>
                  <a:tcPr marL="91440" marR="91440" marT="45720" marB="45720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0.7400</a:t>
                      </a:r>
                    </a:p>
                  </a:txBody>
                  <a:tcPr marL="91440" marR="91440" marT="45720" marB="45720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0.6935</a:t>
                      </a:r>
                    </a:p>
                  </a:txBody>
                  <a:tcPr marL="91440" marR="91440" marT="45720" marB="45720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0.8600</a:t>
                      </a:r>
                    </a:p>
                  </a:txBody>
                  <a:tcPr marL="91440" marR="91440" marT="45720" marB="45720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0.7679</a:t>
                      </a:r>
                    </a:p>
                  </a:txBody>
                  <a:tcPr marL="91440" marR="91440" marT="45720" marB="45720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0.8032</a:t>
                      </a:r>
                    </a:p>
                  </a:txBody>
                  <a:tcPr marL="91440" marR="91440" marT="45720" marB="45720">
                    <a:solidFill>
                      <a:srgbClr val="ECFDF5"/>
                    </a:solidFill>
                  </a:tcPr>
                </a:tc>
              </a:tr>
              <a:tr h="423863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Gradient Boosting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0.7300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0.6949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0.8200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0.7523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F172A"/>
                          </a:solidFill>
                          <a:latin typeface="Aptos"/>
                          <a:ea typeface="Aptos"/>
                          <a:cs typeface="Aptos"/>
                        </a:rPr>
                        <a:t>0.7916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8286750" y="1476375"/>
          <a:ext xmlns:a="http://schemas.openxmlformats.org/drawingml/2006/main" cx="3143250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606ac525e74a3f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A0425-61BF-4191-A7CC-615167D2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382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D2E36-5DC5-40FC-B76E-B8239901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48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Yorum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B1BE5D-4360-4391-AD8C-F999C82F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2910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0F172A"/>
                </a:solidFill>
                <a:latin typeface="Aptos"/>
                <a:ea typeface="Aptos"/>
                <a:cs typeface="Aptos"/>
              </a:rPr>
              <a:t>Logistic Regression doğrusal karar sınırı kullandığı için sınırlı kaldı. Random Forest, mean_first10, mean_last10, q75 gibi özellikler arasındaki doğrusal olmayan etkileşimleri daha iyi yakaladı.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31EC69-4A0A-401A-9F03-96533DDC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64748B"/>
                </a:solidFill>
                <a:latin typeface="Aptos"/>
                <a:ea typeface="Aptos"/>
                <a:cs typeface="Aptos"/>
              </a:rPr>
              <a:t>Cosmos-T1 top1-top2 güven sinyali  ·  Betül Arslan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819504-2341-4468-87B8-7DA655DB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960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1018589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7B3029-EAF6-4C84-9418-73E9D5D7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33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Confusion matrix: Random Forest doğru sınıfı en az kaçırıyor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5B9D3F-7281-4AEB-8226-D63D3810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475569"/>
                </a:solidFill>
                <a:latin typeface="Aptos"/>
                <a:ea typeface="Aptos"/>
                <a:cs typeface="Aptos"/>
              </a:rPr>
              <a:t>Test kümesi 50 doğru + 50 yanlış örnekten oluşan dengeli final settir.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5EAF6E0-9556-4BE6-A5EC-702ED67A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64748B"/>
                </a:solidFill>
                <a:latin typeface="Aptos"/>
                <a:ea typeface="Aptos"/>
                <a:cs typeface="Aptos"/>
              </a:rPr>
              <a:t>Cosmos-T1 top1-top2 güven sinyali  ·  Betül Arslan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24BDB9-B35E-4E02-8207-01D206B58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960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 xmlns:a="http://schemas.openxmlformats.org/drawingml/2006/main" xmlns:r="http://schemas.openxmlformats.org/officeDocument/2006/relationships">
        <p:nvPicPr>
          <p:cNvPr id="50" name="Picture 49" descr="fig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63040"/>
            <a:ext cx="11612880" cy="35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8228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EB2FFA-A27A-4DF5-A721-F0CF6AE6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33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ROC-AUC sonuçları top1-top2 sinyalinin ayırt edici olduğunu gösteriyor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BBC751-FB00-400A-BF6A-41ED2102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475569"/>
                </a:solidFill>
                <a:latin typeface="Aptos"/>
                <a:ea typeface="Aptos"/>
                <a:cs typeface="Aptos"/>
              </a:rPr>
              <a:t>F1'de RF (0.743), AUC'de GB (0.794) öne çıktı.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A2C973-58E6-43FF-8EB8-D4E2B8DD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64748B"/>
                </a:solidFill>
                <a:latin typeface="Aptos"/>
                <a:ea typeface="Aptos"/>
                <a:cs typeface="Aptos"/>
              </a:rPr>
              <a:t>Cosmos-T1 top1-top2 güven sinyali  ·  Betül Arslan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ED9217-CB7B-40CF-B183-57F01840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960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 xmlns:a="http://schemas.openxmlformats.org/drawingml/2006/main" xmlns:r="http://schemas.openxmlformats.org/officeDocument/2006/relationships">
        <p:nvPicPr>
          <p:cNvPr id="10" name="Picture 9" descr="fig_r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463040"/>
            <a:ext cx="11612880" cy="9929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0198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50A9B9-321B-4D4E-ACE1-C878E725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33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Özellik önemleri: cevabın başı ve sonu belirleyici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BB5BFD-948F-412F-8613-F53F621C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475569"/>
                </a:solidFill>
                <a:latin typeface="Aptos"/>
                <a:ea typeface="Aptos"/>
                <a:cs typeface="Aptos"/>
              </a:rPr>
              <a:t>Top1-top2 dizisinin yalnızca ortalaması değil, zamansal profili de tahminde kullanılıyor.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0406E4-C808-441E-9535-37E8D841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64748B"/>
                </a:solidFill>
                <a:latin typeface="Aptos"/>
                <a:ea typeface="Aptos"/>
                <a:cs typeface="Aptos"/>
              </a:rPr>
              <a:t>Cosmos-T1 top1-top2 güven sinyali  ·  Betül Arslan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4C30CF-1610-4134-99C3-DD41A1E68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960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 xmlns:a="http://schemas.openxmlformats.org/drawingml/2006/main" xmlns:r="http://schemas.openxmlformats.org/officeDocument/2006/relationships">
        <p:nvPicPr>
          <p:cNvPr id="18" name="Picture 17" descr="fig_feat_i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463040"/>
            <a:ext cx="11612880" cy="4096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6792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6FE9AF-083F-42A9-AB32-064A7A0D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33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Sınırlılıklar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80089F-1AAC-4F5A-8B17-282340A5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475569"/>
                </a:solidFill>
                <a:latin typeface="Aptos"/>
                <a:ea typeface="Aptos"/>
                <a:cs typeface="Aptos"/>
              </a:rPr>
              <a:t>Final koşu tamamlandı. 1776 soru üretildi, 1000+100 dengeli set oluşturuldu.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DEB9B9-D771-45DA-8B8A-4B5081B0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CED2E2-1743-481F-8CCC-EA30AE6F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478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Sınırlılıklar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8857DE-C093-4B93-91CA-F8DDBFB0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43150"/>
            <a:ext cx="4095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1776 koşusu ödevin tam dengeli hedefi için yeterli doğru sınıf üretmedi.</a:t>
            </a:r>
          </a:p>
          <a:p xmlns:a="http://schemas.openxmlformats.org/drawingml/2006/main"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Think modeli uzun muhakeme yazabildiği için token sınırı cevap formatını etkileyebilir.</a:t>
            </a:r>
          </a:p>
          <a:p xmlns:a="http://schemas.openxmlformats.org/drawingml/2006/main"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Ara ölçekte test 100 örnek; nihai tablo 1000 train + 100 test tamamlanınca güncellenmeli.</a:t>
            </a:r>
          </a:p>
          <a:p xmlns:a="http://schemas.openxmlformats.org/drawingml/2006/main"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Tek model ve tek veri kümesi kullanılıyor; genelleme yorumu sınırlı.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8BE9A2-60D8-431F-BC24-20D4F6EC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4762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52BD1F-EA8C-4531-BD25-0B7EB65E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478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Final sonuçlar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B40A5B-E63B-4A13-8C08-FE9B4076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43150"/>
            <a:ext cx="3810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Checkpointten devam: N_RUN 1750 → gerekirse 1820/1900.</a:t>
            </a:r>
          </a:p>
          <a:p xmlns:a="http://schemas.openxmlformats.org/drawingml/2006/main"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Hedef: en az 550 doğru ve 550 yanlış kullanılabilir cevap.</a:t>
            </a:r>
          </a:p>
          <a:p xmlns:a="http://schemas.openxmlformats.org/drawingml/2006/main"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Dengeleme: 500/500 train ve 50/50 test.</a:t>
            </a:r>
          </a:p>
          <a:p xmlns:a="http://schemas.openxmlformats.org/drawingml/2006/main"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0F172A"/>
                </a:solidFill>
                <a:latin typeface="Aptos"/>
                <a:ea typeface="Aptos"/>
                <a:cs typeface="Aptos"/>
              </a:rPr>
              <a:t>• Aynı ML pipeline ile final metrikleri ve grafikler yeniden üretilecek.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4FBD6F-C61F-448C-9990-515A8B20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957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Top1-top2 farkı, modelin iç sinyalinden güven tahmini yapılabildiğini gösterdi.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F14467-63D5-4724-8DEE-9F6AC458E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64748B"/>
                </a:solidFill>
                <a:latin typeface="Aptos"/>
                <a:ea typeface="Aptos"/>
                <a:cs typeface="Aptos"/>
              </a:rPr>
              <a:t>Cosmos-T1 top1-top2 güven sinyali  ·  Betül Arslan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A78A10-E9AD-410A-B2B3-41ADBF9B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960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565014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C1CAE1-1EAF-4B20-8AC5-AFFEA82B0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4B8A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B8A6"/>
                </a:solidFill>
                <a:latin typeface="Aptos"/>
                <a:ea typeface="Aptos"/>
                <a:cs typeface="Aptos"/>
              </a:rPr>
              <a:t>SONUÇ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CE68A8-9E16-47B7-9C87-0668CE52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953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Top1-top2 farkı, cevap doğruluğu için kullanılabilir bir güven sinyali veriyor.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5FF2C3-B738-4CDB-A3AF-0F626877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30480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90D9BA-0B48-4519-BC7A-F5CD3641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4B8A6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B8A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B970CB-EF95-4342-A24D-726C5A35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3147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F1'de RF lider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32B96-D930-4D8E-919E-4BCF737D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6766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CBD5E1"/>
                </a:solidFill>
                <a:latin typeface="Aptos"/>
                <a:ea typeface="Aptos"/>
                <a:cs typeface="Aptos"/>
              </a:rPr>
              <a:t>F1=0.7429, Acc=0.73 — F1/Accuracy lideri.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9A6136-5BCE-4575-9963-A6177CF2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48000"/>
            <a:ext cx="30480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F81C9-C175-4166-AF1E-EA919459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57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4B8A6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B8A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C8756-DC3C-4F3E-94AB-3AFE2EF9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147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Sinyal doğrusal değil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6504A6-47DB-4073-B060-4078D82B7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6766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CBD5E1"/>
                </a:solidFill>
                <a:latin typeface="Aptos"/>
                <a:ea typeface="Aptos"/>
                <a:cs typeface="Aptos"/>
              </a:rPr>
              <a:t>LR sinyal görüyor ama ağaç modelleri daha iyi kullanıyor.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7D73B5-6748-46F1-9C05-B774854C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48000"/>
            <a:ext cx="30480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ABF5AE-B544-4C84-9E79-EEBC5427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57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4B8A6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4B8A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CE3DD0-99FB-440B-BD4D-4F53FD04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3147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AUC'de GB lider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190E0A-A5B0-462C-BC3E-35219B67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766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CBD5E1"/>
                </a:solidFill>
                <a:latin typeface="Aptos"/>
                <a:ea typeface="Aptos"/>
                <a:cs typeface="Aptos"/>
              </a:rPr>
              <a:t>AUC=0.7936 — eşik bağımsız ayırt etmede öne çıktı.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18F10C-535C-420B-ADF5-70DC4CFB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E2E8F0"/>
                </a:solidFill>
                <a:latin typeface="Aptos"/>
                <a:ea typeface="Aptos"/>
                <a:cs typeface="Aptos"/>
              </a:rPr>
              <a:t>Top1-top2 farkı ek dış bilgi gerektirmeksizin modelin üretim sürecinden güvenilir kalite göstergesi olarak elde edilebilir.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8A9A11-1C3F-47FA-A46B-E9626BBF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960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67061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2026-06-15T07:14:20.4200000Z</dcterms:created>
  <dcterms:modified xsi:type="dcterms:W3CDTF">2026-06-15T07:14:20.4200000Z</dcterms:modified>
</coreProperties>
</file>