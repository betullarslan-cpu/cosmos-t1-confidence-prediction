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0" y="-914400"/>
            <a:ext cx="3657600" cy="3657600"/>
          </a:xfrm>
          <a:prstGeom prst="ellipse">
            <a:avLst/>
          </a:prstGeom>
          <a:solidFill>
            <a:srgbClr val="0077B6">
              <a:alpha val="18000"/>
            </a:srgbClr>
          </a:solidFill>
          <a:ln w="12700">
            <a:solidFill>
              <a:srgbClr val="0077B6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3474720"/>
            <a:ext cx="2194560" cy="2194560"/>
          </a:xfrm>
          <a:prstGeom prst="ellipse">
            <a:avLst/>
          </a:prstGeom>
          <a:solidFill>
            <a:srgbClr val="00B4D8">
              <a:alpha val="14000"/>
            </a:srgbClr>
          </a:solidFill>
          <a:ln w="12700">
            <a:solidFill>
              <a:srgbClr val="00B4D8">
                <a:alpha val="14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5720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B4D8"/>
                </a:solidFill>
              </a:rPr>
              <a:t>HESAPLAMALIAnlambilim – Final Projesi  ·  Konu 4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Top1−Top2 Olasılık Farkı ile</a:t>
            </a:r>
            <a:endParaRPr lang="en-US" sz="3500" dirty="0"/>
          </a:p>
        </p:txBody>
      </p:sp>
      <p:sp>
        <p:nvSpPr>
          <p:cNvPr id="7" name="Text 5"/>
          <p:cNvSpPr/>
          <p:nvPr/>
        </p:nvSpPr>
        <p:spPr>
          <a:xfrm>
            <a:off x="411480" y="164592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 Doğruluğu Tahmini</a:t>
            </a:r>
            <a:endParaRPr lang="en-US" sz="3500" dirty="0"/>
          </a:p>
        </p:txBody>
      </p:sp>
      <p:sp>
        <p:nvSpPr>
          <p:cNvPr id="8" name="Text 6"/>
          <p:cNvSpPr/>
          <p:nvPr/>
        </p:nvSpPr>
        <p:spPr>
          <a:xfrm>
            <a:off x="411480" y="29260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ABB8"/>
                </a:solidFill>
              </a:rPr>
              <a:t>Betül Arslan  ·  Turkish-Gemma-9b-T1 (Cosmos-T1)  ·  gsm8k_tr  ·  15 Haziran 2026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1480" y="3456432"/>
            <a:ext cx="1463040" cy="301752"/>
          </a:xfrm>
          <a:prstGeom prst="roundRect">
            <a:avLst>
              <a:gd name="adj" fmla="val 27273"/>
            </a:avLst>
          </a:prstGeom>
          <a:solidFill>
            <a:srgbClr val="0077B6">
              <a:alpha val="42000"/>
            </a:srgbClr>
          </a:solidFill>
          <a:ln w="1143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3456432"/>
            <a:ext cx="1463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Cosmos-T1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011680" y="3456432"/>
            <a:ext cx="1463040" cy="301752"/>
          </a:xfrm>
          <a:prstGeom prst="roundRect">
            <a:avLst>
              <a:gd name="adj" fmla="val 27273"/>
            </a:avLst>
          </a:prstGeom>
          <a:solidFill>
            <a:srgbClr val="0077B6">
              <a:alpha val="42000"/>
            </a:srgbClr>
          </a:solidFill>
          <a:ln w="11430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11680" y="3456432"/>
            <a:ext cx="1463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gsm8k_tr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11880" y="3456432"/>
            <a:ext cx="1463040" cy="301752"/>
          </a:xfrm>
          <a:prstGeom prst="roundRect">
            <a:avLst>
              <a:gd name="adj" fmla="val 27273"/>
            </a:avLst>
          </a:prstGeom>
          <a:solidFill>
            <a:srgbClr val="0077B6">
              <a:alpha val="42000"/>
            </a:srgbClr>
          </a:solidFill>
          <a:ln w="1143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1880" y="3456432"/>
            <a:ext cx="1463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1200 Soru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120640" y="3456432"/>
            <a:ext cx="1463040" cy="301752"/>
          </a:xfrm>
          <a:prstGeom prst="roundRect">
            <a:avLst>
              <a:gd name="adj" fmla="val 27273"/>
            </a:avLst>
          </a:prstGeom>
          <a:solidFill>
            <a:srgbClr val="0077B6">
              <a:alpha val="42000"/>
            </a:srgbClr>
          </a:solidFill>
          <a:ln w="1143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0" y="3456432"/>
            <a:ext cx="1463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Random Forest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3456432"/>
            <a:ext cx="1463040" cy="301752"/>
          </a:xfrm>
          <a:prstGeom prst="roundRect">
            <a:avLst>
              <a:gd name="adj" fmla="val 27273"/>
            </a:avLst>
          </a:prstGeom>
          <a:solidFill>
            <a:srgbClr val="0077B6">
              <a:alpha val="42000"/>
            </a:srgbClr>
          </a:solidFill>
          <a:ln w="11430">
            <a:solidFill>
              <a:srgbClr val="00B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3456432"/>
            <a:ext cx="1463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L4 GPU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0"/>
            <a:ext cx="8686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Ne Yaptık?  Hipotez &amp; Genel Akış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5349240" cy="1444752"/>
          </a:xfrm>
          <a:prstGeom prst="rect">
            <a:avLst/>
          </a:prstGeom>
          <a:solidFill>
            <a:srgbClr val="E8F7FB"/>
          </a:solidFill>
          <a:ln w="1778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9144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7B6"/>
                </a:solidFill>
              </a:rPr>
              <a:t>Hipotez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11480" y="1207008"/>
            <a:ext cx="5074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</a:rPr>
              <a:t>Model doğru cevap üretirken her token adımında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</a:rPr>
              <a:t>1. ve 2. olası token arasındaki olasılık farkı (top1−top2)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</a:rPr>
              <a:t>daha YÜKSEK; yanlış cevaplarda DÜŞÜK ya da DEĞİŞKEN.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</a:rPr>
              <a:t>→ Bu sinyal istatistiksel özelliklerle ML'e verilebilir.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06440" y="868680"/>
            <a:ext cx="3063240" cy="1444752"/>
          </a:xfrm>
          <a:prstGeom prst="rect">
            <a:avLst/>
          </a:prstGeom>
          <a:solidFill>
            <a:srgbClr val="EBF5FB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0" y="9144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7B6"/>
                </a:solidFill>
              </a:rPr>
              <a:t>Teknik Kurulum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0" y="1207008"/>
            <a:ext cx="28346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</a:rPr>
              <a:t>• output_scores=True → logitler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</a:rPr>
              <a:t>• MAX_NEW_TOKENS=128, batch=8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</a:rPr>
              <a:t>• L4 GPU  (~18.5 GB VRAM)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</a:rPr>
              <a:t>• SimpleImputer + sklearn Pipeline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2487168"/>
            <a:ext cx="1600200" cy="713232"/>
          </a:xfrm>
          <a:prstGeom prst="rect">
            <a:avLst/>
          </a:prstGeom>
          <a:solidFill>
            <a:srgbClr val="0D1B2A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24871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gsm8k_tr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8768 soru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74520" y="2843784"/>
            <a:ext cx="13716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11680" y="2487168"/>
            <a:ext cx="1600200" cy="713232"/>
          </a:xfrm>
          <a:prstGeom prst="rect">
            <a:avLst/>
          </a:prstGeom>
          <a:solidFill>
            <a:srgbClr val="0077B6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0" y="24871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Cosmos-T1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üretim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11880" y="2843784"/>
            <a:ext cx="13716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749040" y="2487168"/>
            <a:ext cx="1600200" cy="713232"/>
          </a:xfrm>
          <a:prstGeom prst="rect">
            <a:avLst/>
          </a:prstGeom>
          <a:solidFill>
            <a:srgbClr val="0D1B2A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24871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top1−top2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fark dizisi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349240" y="2843784"/>
            <a:ext cx="13716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0" y="2487168"/>
            <a:ext cx="1600200" cy="713232"/>
          </a:xfrm>
          <a:prstGeom prst="rect">
            <a:avLst/>
          </a:prstGeom>
          <a:solidFill>
            <a:srgbClr val="0D1B2A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0" y="24871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18 istatistiksel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övzellik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086600" y="2843784"/>
            <a:ext cx="13716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23760" y="2487168"/>
            <a:ext cx="1600200" cy="713232"/>
          </a:xfrm>
          <a:prstGeom prst="rect">
            <a:avLst/>
          </a:prstGeom>
          <a:solidFill>
            <a:srgbClr val="0D1B2A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23760" y="24871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ML Sınıflandırıcı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(LR / RF / GB)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74320" y="3364992"/>
            <a:ext cx="8595360" cy="53035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3364992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Değerlendirme: Accuracy · Precision · Recall · F1 · ROC-AUC · Confusion Matrix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74320" y="4005072"/>
            <a:ext cx="2011680" cy="749808"/>
          </a:xfrm>
          <a:prstGeom prst="rect">
            <a:avLst/>
          </a:prstGeom>
          <a:solidFill>
            <a:srgbClr val="111E3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4005072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D6A0"/>
                </a:solidFill>
              </a:rPr>
              <a:t>F1=0.77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2450592" y="4005072"/>
            <a:ext cx="2011680" cy="749808"/>
          </a:xfrm>
          <a:prstGeom prst="rect">
            <a:avLst/>
          </a:prstGeom>
          <a:solidFill>
            <a:srgbClr val="111E3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450592" y="4005072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</a:rPr>
              <a:t>AUC=0.80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4626864" y="4005072"/>
            <a:ext cx="2011680" cy="749808"/>
          </a:xfrm>
          <a:prstGeom prst="rect">
            <a:avLst/>
          </a:prstGeom>
          <a:solidFill>
            <a:srgbClr val="111E3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26864" y="4005072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66"/>
                </a:solidFill>
              </a:rPr>
              <a:t>Acc=0.74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803136" y="4005072"/>
            <a:ext cx="2011680" cy="749808"/>
          </a:xfrm>
          <a:prstGeom prst="rect">
            <a:avLst/>
          </a:prstGeom>
          <a:solidFill>
            <a:srgbClr val="111E30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03136" y="4005072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A261"/>
                </a:solidFill>
              </a:rPr>
              <a:t>100 test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0"/>
            <a:ext cx="8686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Yöntem: Top1−Top2 Fark Dizisi → 18 Özellik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886968"/>
            <a:ext cx="4297680" cy="12984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9326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ABB8"/>
                </a:solidFill>
              </a:rPr>
              <a:t>Her token adımı t ∈ {1 … T} için: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1188720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δ(t) = P(top₁,t) − P(top₂,t)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411480" y="159105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δ büyük → emin    δ küçük → kararsız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09160" y="886968"/>
            <a:ext cx="4114800" cy="1298448"/>
          </a:xfrm>
          <a:prstGeom prst="rect">
            <a:avLst/>
          </a:prstGeom>
          <a:solidFill>
            <a:srgbClr val="0A1628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28032" y="91440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probs = softmax(step_logits[0].float())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top2  = torch.topk(probs, k=2)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δ_t   = top2.values[0] − top2.values[1]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" y="23317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</a:rPr>
              <a:t>18 istatistiksel özellik (her cevap için):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4320" y="2651760"/>
            <a:ext cx="1371600" cy="338328"/>
          </a:xfrm>
          <a:prstGeom prst="rect">
            <a:avLst/>
          </a:prstGeom>
          <a:solidFill>
            <a:srgbClr val="EBF5FB"/>
          </a:solidFill>
          <a:ln w="8890">
            <a:solidFill>
              <a:srgbClr val="BDD7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2651760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2A"/>
                </a:solidFill>
              </a:rPr>
              <a:t>mean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737360" y="2651760"/>
            <a:ext cx="1371600" cy="338328"/>
          </a:xfrm>
          <a:prstGeom prst="rect">
            <a:avLst/>
          </a:prstGeom>
          <a:solidFill>
            <a:srgbClr val="EBF5FB"/>
          </a:solidFill>
          <a:ln w="8890">
            <a:solidFill>
              <a:srgbClr val="BDD7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37360" y="2651760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2A"/>
                </a:solidFill>
              </a:rPr>
              <a:t>median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0" y="2651760"/>
            <a:ext cx="1371600" cy="338328"/>
          </a:xfrm>
          <a:prstGeom prst="rect">
            <a:avLst/>
          </a:prstGeom>
          <a:solidFill>
            <a:srgbClr val="EBF5FB"/>
          </a:solidFill>
          <a:ln w="8890">
            <a:solidFill>
              <a:srgbClr val="BDD7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0" y="2651760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2A"/>
                </a:solidFill>
              </a:rPr>
              <a:t>std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2651760"/>
            <a:ext cx="1371600" cy="338328"/>
          </a:xfrm>
          <a:prstGeom prst="rect">
            <a:avLst/>
          </a:prstGeom>
          <a:solidFill>
            <a:srgbClr val="EBF5FB"/>
          </a:solidFill>
          <a:ln w="8890">
            <a:solidFill>
              <a:srgbClr val="BDD7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2651760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2A"/>
                </a:solidFill>
              </a:rPr>
              <a:t>min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126480" y="2651760"/>
            <a:ext cx="1371600" cy="338328"/>
          </a:xfrm>
          <a:prstGeom prst="rect">
            <a:avLst/>
          </a:prstGeom>
          <a:solidFill>
            <a:srgbClr val="EBF5FB"/>
          </a:solidFill>
          <a:ln w="8890">
            <a:solidFill>
              <a:srgbClr val="BDD7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2651760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2A"/>
                </a:solidFill>
              </a:rPr>
              <a:t>max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589520" y="2651760"/>
            <a:ext cx="1371600" cy="338328"/>
          </a:xfrm>
          <a:prstGeom prst="rect">
            <a:avLst/>
          </a:prstGeom>
          <a:solidFill>
            <a:srgbClr val="EBF5FB"/>
          </a:solidFill>
          <a:ln w="8890">
            <a:solidFill>
              <a:srgbClr val="BDD7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2651760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2A"/>
                </a:solidFill>
              </a:rPr>
              <a:t>q25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74320" y="3054096"/>
            <a:ext cx="1371600" cy="338328"/>
          </a:xfrm>
          <a:prstGeom prst="rect">
            <a:avLst/>
          </a:prstGeom>
          <a:solidFill>
            <a:srgbClr val="D4EFFA"/>
          </a:solidFill>
          <a:ln w="8890">
            <a:solidFill>
              <a:srgbClr val="BDD7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3054096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7B6"/>
                </a:solidFill>
              </a:rPr>
              <a:t>q75 ★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737360" y="3054096"/>
            <a:ext cx="1371600" cy="338328"/>
          </a:xfrm>
          <a:prstGeom prst="rect">
            <a:avLst/>
          </a:prstGeom>
          <a:solidFill>
            <a:srgbClr val="EBF5FB"/>
          </a:solidFill>
          <a:ln w="8890">
            <a:solidFill>
              <a:srgbClr val="BDD7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737360" y="3054096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2A"/>
                </a:solidFill>
              </a:rPr>
              <a:t>iqr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00400" y="3054096"/>
            <a:ext cx="1371600" cy="338328"/>
          </a:xfrm>
          <a:prstGeom prst="rect">
            <a:avLst/>
          </a:prstGeom>
          <a:solidFill>
            <a:srgbClr val="EBF5FB"/>
          </a:solidFill>
          <a:ln w="8890">
            <a:solidFill>
              <a:srgbClr val="BDD7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0" y="3054096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2A"/>
                </a:solidFill>
              </a:rPr>
              <a:t>skewness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663440" y="3054096"/>
            <a:ext cx="1371600" cy="338328"/>
          </a:xfrm>
          <a:prstGeom prst="rect">
            <a:avLst/>
          </a:prstGeom>
          <a:solidFill>
            <a:srgbClr val="EBF5FB"/>
          </a:solidFill>
          <a:ln w="8890">
            <a:solidFill>
              <a:srgbClr val="BDD7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63440" y="3054096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2A"/>
                </a:solidFill>
              </a:rPr>
              <a:t>kurtosis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126480" y="3054096"/>
            <a:ext cx="1371600" cy="338328"/>
          </a:xfrm>
          <a:prstGeom prst="rect">
            <a:avLst/>
          </a:prstGeom>
          <a:solidFill>
            <a:srgbClr val="EBF5FB"/>
          </a:solidFill>
          <a:ln w="8890">
            <a:solidFill>
              <a:srgbClr val="BDD7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3054096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2A"/>
                </a:solidFill>
              </a:rPr>
              <a:t>prop_high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589520" y="3054096"/>
            <a:ext cx="1371600" cy="338328"/>
          </a:xfrm>
          <a:prstGeom prst="rect">
            <a:avLst/>
          </a:prstGeom>
          <a:solidFill>
            <a:srgbClr val="EBF5FB"/>
          </a:solidFill>
          <a:ln w="8890">
            <a:solidFill>
              <a:srgbClr val="BDD7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9520" y="3054096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2A"/>
                </a:solidFill>
              </a:rPr>
              <a:t>prop_low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74320" y="3456432"/>
            <a:ext cx="1371600" cy="338328"/>
          </a:xfrm>
          <a:prstGeom prst="rect">
            <a:avLst/>
          </a:prstGeom>
          <a:solidFill>
            <a:srgbClr val="EBF5FB"/>
          </a:solidFill>
          <a:ln w="8890">
            <a:solidFill>
              <a:srgbClr val="BDD7E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" y="3456432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2A"/>
                </a:solidFill>
              </a:rPr>
              <a:t>prop_medium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737360" y="3456432"/>
            <a:ext cx="1371600" cy="338328"/>
          </a:xfrm>
          <a:prstGeom prst="rect">
            <a:avLst/>
          </a:prstGeom>
          <a:solidFill>
            <a:srgbClr val="D4EFFA"/>
          </a:solidFill>
          <a:ln w="8890">
            <a:solidFill>
              <a:srgbClr val="BDD7E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737360" y="3456432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7B6"/>
                </a:solidFill>
              </a:rPr>
              <a:t>mean_first10 ★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200400" y="3456432"/>
            <a:ext cx="1371600" cy="338328"/>
          </a:xfrm>
          <a:prstGeom prst="rect">
            <a:avLst/>
          </a:prstGeom>
          <a:solidFill>
            <a:srgbClr val="D4EFFA"/>
          </a:solidFill>
          <a:ln w="8890">
            <a:solidFill>
              <a:srgbClr val="BDD7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00400" y="3456432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7B6"/>
                </a:solidFill>
              </a:rPr>
              <a:t>mean_last10 ★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663440" y="3456432"/>
            <a:ext cx="1371600" cy="338328"/>
          </a:xfrm>
          <a:prstGeom prst="rect">
            <a:avLst/>
          </a:prstGeom>
          <a:solidFill>
            <a:srgbClr val="EBF5FB"/>
          </a:solidFill>
          <a:ln w="8890">
            <a:solidFill>
              <a:srgbClr val="BDD7E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663440" y="3456432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2A"/>
                </a:solidFill>
              </a:rPr>
              <a:t>trend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126480" y="3456432"/>
            <a:ext cx="1371600" cy="338328"/>
          </a:xfrm>
          <a:prstGeom prst="rect">
            <a:avLst/>
          </a:prstGeom>
          <a:solidFill>
            <a:srgbClr val="EBF5FB"/>
          </a:solidFill>
          <a:ln w="8890">
            <a:solidFill>
              <a:srgbClr val="BDD7E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26480" y="3456432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2A"/>
                </a:solidFill>
              </a:rPr>
              <a:t>n_tokens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589520" y="3456432"/>
            <a:ext cx="1371600" cy="338328"/>
          </a:xfrm>
          <a:prstGeom prst="rect">
            <a:avLst/>
          </a:prstGeom>
          <a:solidFill>
            <a:srgbClr val="D4EFFA"/>
          </a:solidFill>
          <a:ln w="8890">
            <a:solidFill>
              <a:srgbClr val="BDD7E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89520" y="3456432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7B6"/>
                </a:solidFill>
              </a:rPr>
              <a:t>min_region_mean ★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274320" y="431596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★ = en önemli özellikler (final run feature importance sıralaması)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0"/>
            <a:ext cx="8686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Üretim Süreci &amp; Veri Hazırlama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886968"/>
            <a:ext cx="2011680" cy="1051560"/>
          </a:xfrm>
          <a:prstGeom prst="rect">
            <a:avLst/>
          </a:prstGeom>
          <a:solidFill>
            <a:srgbClr val="111E30"/>
          </a:solidFill>
          <a:ln w="1524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32688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00B4D8"/>
                </a:solidFill>
              </a:rPr>
              <a:t>1200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274320" y="153619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ABB8"/>
                </a:solidFill>
              </a:rPr>
              <a:t>Üretilen soru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68880" y="886968"/>
            <a:ext cx="2011680" cy="1051560"/>
          </a:xfrm>
          <a:prstGeom prst="rect">
            <a:avLst/>
          </a:prstGeom>
          <a:solidFill>
            <a:srgbClr val="111E30"/>
          </a:solidFill>
          <a:ln w="15240">
            <a:solidFill>
              <a:srgbClr val="EF476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68880" y="932688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EF476F"/>
                </a:solidFill>
              </a:rPr>
              <a:t>30.8%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2468880" y="153619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ABB8"/>
                </a:solidFill>
              </a:rPr>
              <a:t>Model doğruluğu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886968"/>
            <a:ext cx="2011680" cy="1051560"/>
          </a:xfrm>
          <a:prstGeom prst="rect">
            <a:avLst/>
          </a:prstGeom>
          <a:solidFill>
            <a:srgbClr val="111E30"/>
          </a:solidFill>
          <a:ln w="15240">
            <a:solidFill>
              <a:srgbClr val="06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932688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06D6A0"/>
                </a:solidFill>
              </a:rPr>
              <a:t>370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4663440" y="153619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ABB8"/>
                </a:solidFill>
              </a:rPr>
              <a:t>Doğru cevap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858000" y="886968"/>
            <a:ext cx="2011680" cy="1051560"/>
          </a:xfrm>
          <a:prstGeom prst="rect">
            <a:avLst/>
          </a:prstGeom>
          <a:solidFill>
            <a:srgbClr val="111E30"/>
          </a:solidFill>
          <a:ln w="15240">
            <a:solidFill>
              <a:srgbClr val="FFD1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0" y="932688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FD166"/>
                </a:solidFill>
              </a:rPr>
              <a:t>830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6858000" y="153619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ABB8"/>
                </a:solidFill>
              </a:rPr>
              <a:t>Yanlış cevap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2084832"/>
            <a:ext cx="8595360" cy="1170432"/>
          </a:xfrm>
          <a:prstGeom prst="rect">
            <a:avLst/>
          </a:prstGeom>
          <a:solidFill>
            <a:srgbClr val="1A2C1A"/>
          </a:solidFill>
          <a:ln w="17780">
            <a:solidFill>
              <a:srgbClr val="FFD1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1305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166"/>
                </a:solidFill>
              </a:rPr>
              <a:t>Neden %77 bekleniyor, %30.8 çıktı?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11480" y="2441448"/>
            <a:ext cx="82296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FFA"/>
                </a:solidFill>
              </a:rPr>
              <a:t>Cosmos-T1, &lt;think&gt; etiketiyle uzun CoT (chain-of-thought) üretiyor.  MAX_NEW_TOKENS=128 sınırı nedeniyle cevap kesilip '#### &lt;sayı&gt;' satırına ulaşılamıyor → pred=None → yanlış sayılıyor.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FFA"/>
                </a:solidFill>
              </a:rPr>
              <a:t>Bu teknik bir kısıt; modelin gerçek başarısını yansıtmıyor.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74320" y="3401568"/>
            <a:ext cx="8595360" cy="1389888"/>
          </a:xfrm>
          <a:prstGeom prst="rect">
            <a:avLst/>
          </a:prstGeom>
          <a:solidFill>
            <a:srgbClr val="0A1628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4472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</a:rPr>
              <a:t>Dengeli Veri Kümesi (Final)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1480" y="3767328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Küme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514600" y="3767328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Doğru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17720" y="3767328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Yanlış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720840" y="3767328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Toplam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11480" y="4014216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Eğitim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514600" y="4014216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320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617720" y="4014216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320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20840" y="4014216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640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11480" y="4261104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Test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514600" y="4261104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617720" y="4261104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50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20840" y="4261104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100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11480" y="4507992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D6A0"/>
                </a:solidFill>
              </a:rPr>
              <a:t>Toplam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514600" y="4507992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D6A0"/>
                </a:solidFill>
              </a:rPr>
              <a:t>370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617720" y="4507992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D6A0"/>
                </a:solidFill>
              </a:rPr>
              <a:t>370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720840" y="4507992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D6A0"/>
                </a:solidFill>
              </a:rPr>
              <a:t>740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0"/>
            <a:ext cx="8686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ML Model Karşılaştırması  (640 train / 100 test)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56032" y="886968"/>
            <a:ext cx="2606040" cy="40233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88696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Model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862072" y="886968"/>
            <a:ext cx="1188720" cy="40233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62072" y="88696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Accuracy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050792" y="886968"/>
            <a:ext cx="1188720" cy="40233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50792" y="88696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Precision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239512" y="886968"/>
            <a:ext cx="1097280" cy="40233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9512" y="88696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Recall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36792" y="886968"/>
            <a:ext cx="1188720" cy="40233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36792" y="88696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F1-score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525512" y="886968"/>
            <a:ext cx="1188720" cy="40233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25512" y="88696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ROC-AUC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56032" y="1289304"/>
            <a:ext cx="2606040" cy="402336"/>
          </a:xfrm>
          <a:prstGeom prst="rect">
            <a:avLst/>
          </a:prstGeom>
          <a:solidFill>
            <a:srgbClr val="EBF5FB"/>
          </a:solidFill>
          <a:ln w="6350">
            <a:solidFill>
              <a:srgbClr val="BDD7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6032" y="1289304"/>
            <a:ext cx="2606040" cy="40233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D1B2A"/>
                </a:solidFill>
              </a:rPr>
              <a:t>Logistic Regression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862072" y="1289304"/>
            <a:ext cx="1188720" cy="402336"/>
          </a:xfrm>
          <a:prstGeom prst="rect">
            <a:avLst/>
          </a:prstGeom>
          <a:solidFill>
            <a:srgbClr val="EBF5FB"/>
          </a:solidFill>
          <a:ln w="6350">
            <a:solidFill>
              <a:srgbClr val="BDD7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62072" y="128930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</a:rPr>
              <a:t>0.6700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050792" y="1289304"/>
            <a:ext cx="1188720" cy="402336"/>
          </a:xfrm>
          <a:prstGeom prst="rect">
            <a:avLst/>
          </a:prstGeom>
          <a:solidFill>
            <a:srgbClr val="EBF5FB"/>
          </a:solidFill>
          <a:ln w="6350">
            <a:solidFill>
              <a:srgbClr val="BDD7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50792" y="128930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</a:rPr>
              <a:t>0.6393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239512" y="1289304"/>
            <a:ext cx="1097280" cy="402336"/>
          </a:xfrm>
          <a:prstGeom prst="rect">
            <a:avLst/>
          </a:prstGeom>
          <a:solidFill>
            <a:srgbClr val="EBF5FB"/>
          </a:solidFill>
          <a:ln w="6350">
            <a:solidFill>
              <a:srgbClr val="BDD7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239512" y="128930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</a:rPr>
              <a:t>0.7800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336792" y="1289304"/>
            <a:ext cx="1188720" cy="402336"/>
          </a:xfrm>
          <a:prstGeom prst="rect">
            <a:avLst/>
          </a:prstGeom>
          <a:solidFill>
            <a:srgbClr val="EBF5FB"/>
          </a:solidFill>
          <a:ln w="6350">
            <a:solidFill>
              <a:srgbClr val="BDD7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36792" y="128930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</a:rPr>
              <a:t>0.7027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525512" y="1289304"/>
            <a:ext cx="1188720" cy="402336"/>
          </a:xfrm>
          <a:prstGeom prst="rect">
            <a:avLst/>
          </a:prstGeom>
          <a:solidFill>
            <a:srgbClr val="EBF5FB"/>
          </a:solidFill>
          <a:ln w="6350">
            <a:solidFill>
              <a:srgbClr val="BDD7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25512" y="128930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</a:rPr>
              <a:t>0.7560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56032" y="1691640"/>
            <a:ext cx="2606040" cy="402336"/>
          </a:xfrm>
          <a:prstGeom prst="rect">
            <a:avLst/>
          </a:prstGeom>
          <a:solidFill>
            <a:srgbClr val="D4EFFA"/>
          </a:solidFill>
          <a:ln w="6350">
            <a:solidFill>
              <a:srgbClr val="BDD7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6032" y="1691640"/>
            <a:ext cx="2606040" cy="40233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077B6"/>
                </a:solidFill>
              </a:rPr>
              <a:t>Random Forest ★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862072" y="1691640"/>
            <a:ext cx="1188720" cy="402336"/>
          </a:xfrm>
          <a:prstGeom prst="rect">
            <a:avLst/>
          </a:prstGeom>
          <a:solidFill>
            <a:srgbClr val="D4EFFA"/>
          </a:solidFill>
          <a:ln w="6350">
            <a:solidFill>
              <a:srgbClr val="BDD7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169164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7B6"/>
                </a:solidFill>
              </a:rPr>
              <a:t>0.7400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50792" y="1691640"/>
            <a:ext cx="1188720" cy="402336"/>
          </a:xfrm>
          <a:prstGeom prst="rect">
            <a:avLst/>
          </a:prstGeom>
          <a:solidFill>
            <a:srgbClr val="D4EFFA"/>
          </a:solidFill>
          <a:ln w="6350">
            <a:solidFill>
              <a:srgbClr val="BDD7E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50792" y="169164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7B6"/>
                </a:solidFill>
              </a:rPr>
              <a:t>0.6935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239512" y="1691640"/>
            <a:ext cx="1097280" cy="402336"/>
          </a:xfrm>
          <a:prstGeom prst="rect">
            <a:avLst/>
          </a:prstGeom>
          <a:solidFill>
            <a:srgbClr val="D4EFFA"/>
          </a:solidFill>
          <a:ln w="6350">
            <a:solidFill>
              <a:srgbClr val="BDD7E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9512" y="169164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7B6"/>
                </a:solidFill>
              </a:rPr>
              <a:t>0.8600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336792" y="1691640"/>
            <a:ext cx="1188720" cy="402336"/>
          </a:xfrm>
          <a:prstGeom prst="rect">
            <a:avLst/>
          </a:prstGeom>
          <a:solidFill>
            <a:srgbClr val="D4EFFA"/>
          </a:solidFill>
          <a:ln w="6350">
            <a:solidFill>
              <a:srgbClr val="BDD7E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36792" y="169164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7B6"/>
                </a:solidFill>
              </a:rPr>
              <a:t>0.7679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7525512" y="1691640"/>
            <a:ext cx="1188720" cy="402336"/>
          </a:xfrm>
          <a:prstGeom prst="rect">
            <a:avLst/>
          </a:prstGeom>
          <a:solidFill>
            <a:srgbClr val="D4EFFA"/>
          </a:solidFill>
          <a:ln w="6350">
            <a:solidFill>
              <a:srgbClr val="BDD7E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525512" y="169164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7B6"/>
                </a:solidFill>
              </a:rPr>
              <a:t>0.8032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256032" y="2093976"/>
            <a:ext cx="2606040" cy="402336"/>
          </a:xfrm>
          <a:prstGeom prst="rect">
            <a:avLst/>
          </a:prstGeom>
          <a:solidFill>
            <a:srgbClr val="EBF5FB"/>
          </a:solidFill>
          <a:ln w="6350">
            <a:solidFill>
              <a:srgbClr val="BDD7E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6032" y="2093976"/>
            <a:ext cx="2606040" cy="40233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D1B2A"/>
                </a:solidFill>
              </a:rPr>
              <a:t>Gradient Boosting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2862072" y="2093976"/>
            <a:ext cx="1188720" cy="402336"/>
          </a:xfrm>
          <a:prstGeom prst="rect">
            <a:avLst/>
          </a:prstGeom>
          <a:solidFill>
            <a:srgbClr val="EBF5FB"/>
          </a:solidFill>
          <a:ln w="6350">
            <a:solidFill>
              <a:srgbClr val="BDD7E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862072" y="209397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</a:rPr>
              <a:t>0.7300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4050792" y="2093976"/>
            <a:ext cx="1188720" cy="402336"/>
          </a:xfrm>
          <a:prstGeom prst="rect">
            <a:avLst/>
          </a:prstGeom>
          <a:solidFill>
            <a:srgbClr val="EBF5FB"/>
          </a:solidFill>
          <a:ln w="6350">
            <a:solidFill>
              <a:srgbClr val="BDD7E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50792" y="209397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</a:rPr>
              <a:t>0.6949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239512" y="2093976"/>
            <a:ext cx="1097280" cy="402336"/>
          </a:xfrm>
          <a:prstGeom prst="rect">
            <a:avLst/>
          </a:prstGeom>
          <a:solidFill>
            <a:srgbClr val="EBF5FB"/>
          </a:solidFill>
          <a:ln w="6350">
            <a:solidFill>
              <a:srgbClr val="BDD7E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39512" y="209397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</a:rPr>
              <a:t>0.8200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6336792" y="2093976"/>
            <a:ext cx="1188720" cy="402336"/>
          </a:xfrm>
          <a:prstGeom prst="rect">
            <a:avLst/>
          </a:prstGeom>
          <a:solidFill>
            <a:srgbClr val="EBF5FB"/>
          </a:solidFill>
          <a:ln w="6350">
            <a:solidFill>
              <a:srgbClr val="BDD7E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36792" y="209397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</a:rPr>
              <a:t>0.7523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7525512" y="2093976"/>
            <a:ext cx="1188720" cy="402336"/>
          </a:xfrm>
          <a:prstGeom prst="rect">
            <a:avLst/>
          </a:prstGeom>
          <a:solidFill>
            <a:srgbClr val="EBF5FB"/>
          </a:solidFill>
          <a:ln w="6350">
            <a:solidFill>
              <a:srgbClr val="BDD7E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25512" y="209397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</a:rPr>
              <a:t>0.7916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256032" y="2240280"/>
            <a:ext cx="4206240" cy="1051560"/>
          </a:xfrm>
          <a:prstGeom prst="rect">
            <a:avLst/>
          </a:prstGeom>
          <a:solidFill>
            <a:srgbClr val="FFF3CD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5760" y="2240280"/>
            <a:ext cx="40050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56404"/>
                </a:solidFill>
              </a:rPr>
              <a:t>LR neden zayıf?  </a:t>
            </a:r>
            <a:pPr indent="0" marL="0">
              <a:buNone/>
            </a:pPr>
            <a:r>
              <a:rPr lang="en-US" sz="1100" dirty="0">
                <a:solidFill>
                  <a:srgbClr val="856404"/>
                </a:solidFill>
              </a:rPr>
              <a:t>Özellikler ile etiket ilişkisi doğrusal değil. Daha fazla veriyle LR gelişti (0.57→0.70) ama hâlâ yetersiz.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4645152" y="2240280"/>
            <a:ext cx="4206240" cy="1051560"/>
          </a:xfrm>
          <a:prstGeom prst="rect">
            <a:avLst/>
          </a:prstGeom>
          <a:solidFill>
            <a:srgbClr val="D4EFFA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54880" y="2240280"/>
            <a:ext cx="40050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7B6"/>
                </a:solidFill>
              </a:rPr>
              <a:t>RF neden en iyi?  </a:t>
            </a:r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</a:rPr>
              <a:t>mean_first10 + mean_last10 + q75 gibi doğrusal olmayan etkileşimleri ağaç topluluğu yakalar → AUC=0.80.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56032" y="3438144"/>
            <a:ext cx="8595360" cy="13258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11480" y="3493008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D6A0"/>
                </a:solidFill>
              </a:rPr>
              <a:t>0.7679</a:t>
            </a:r>
            <a:endParaRPr lang="en-US" sz="3000" dirty="0"/>
          </a:p>
        </p:txBody>
      </p:sp>
      <p:sp>
        <p:nvSpPr>
          <p:cNvPr id="59" name="Text 57"/>
          <p:cNvSpPr/>
          <p:nvPr/>
        </p:nvSpPr>
        <p:spPr>
          <a:xfrm>
            <a:off x="411480" y="4160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ABB8"/>
                </a:solidFill>
              </a:rPr>
              <a:t>Random Forest  F1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2587752" y="3493008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B4D8"/>
                </a:solidFill>
              </a:rPr>
              <a:t>0.8032</a:t>
            </a:r>
            <a:endParaRPr lang="en-US" sz="3000" dirty="0"/>
          </a:p>
        </p:txBody>
      </p:sp>
      <p:sp>
        <p:nvSpPr>
          <p:cNvPr id="61" name="Text 59"/>
          <p:cNvSpPr/>
          <p:nvPr/>
        </p:nvSpPr>
        <p:spPr>
          <a:xfrm>
            <a:off x="2587752" y="4160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ABB8"/>
                </a:solidFill>
              </a:rPr>
              <a:t>Random Forest  AUC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4764024" y="3493008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D166"/>
                </a:solidFill>
              </a:rPr>
              <a:t>0.7400</a:t>
            </a:r>
            <a:endParaRPr lang="en-US" sz="3000" dirty="0"/>
          </a:p>
        </p:txBody>
      </p:sp>
      <p:sp>
        <p:nvSpPr>
          <p:cNvPr id="63" name="Text 61"/>
          <p:cNvSpPr/>
          <p:nvPr/>
        </p:nvSpPr>
        <p:spPr>
          <a:xfrm>
            <a:off x="4764024" y="4160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ABB8"/>
                </a:solidFill>
              </a:rPr>
              <a:t>Random Forest  Accuracy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940296" y="3493008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4A261"/>
                </a:solidFill>
              </a:rPr>
              <a:t>0.8600</a:t>
            </a:r>
            <a:endParaRPr lang="en-US" sz="3000" dirty="0"/>
          </a:p>
        </p:txBody>
      </p:sp>
      <p:sp>
        <p:nvSpPr>
          <p:cNvPr id="65" name="Text 63"/>
          <p:cNvSpPr/>
          <p:nvPr/>
        </p:nvSpPr>
        <p:spPr>
          <a:xfrm>
            <a:off x="6940296" y="4160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ABB8"/>
                </a:solidFill>
              </a:rPr>
              <a:t>Random Forest  Recall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0"/>
            <a:ext cx="8686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Confusion Matrix Karşılaştırması  (100 test örneği)</a:t>
            </a:r>
            <a:endParaRPr lang="en-US" sz="2000" dirty="0"/>
          </a:p>
        </p:txBody>
      </p:sp>
      <p:pic>
        <p:nvPicPr>
          <p:cNvPr id="5" name="Image 0" descr="/Users/betularslan/Desktop/bilgisayarla görü 26/rapor_gorseller/fig_confu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822960"/>
            <a:ext cx="8631936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3639312"/>
            <a:ext cx="9144000" cy="15087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4592" y="3712464"/>
            <a:ext cx="2798064" cy="1353312"/>
          </a:xfrm>
          <a:prstGeom prst="rect">
            <a:avLst/>
          </a:prstGeom>
          <a:solidFill>
            <a:srgbClr val="0A1628"/>
          </a:solidFill>
          <a:ln w="15240">
            <a:solidFill>
              <a:srgbClr val="EF476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56032" y="3758184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76F"/>
                </a:solidFill>
              </a:rPr>
              <a:t>Logistic Regression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56032" y="4041648"/>
            <a:ext cx="261518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28 TN · 22 FP · 11 FN · 39 TP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Acc=0.67 — Yanlışları bulmada güçlü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ama FP çok yüksek (22).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18688" y="3712464"/>
            <a:ext cx="2798064" cy="1353312"/>
          </a:xfrm>
          <a:prstGeom prst="rect">
            <a:avLst/>
          </a:prstGeom>
          <a:solidFill>
            <a:srgbClr val="0A1628"/>
          </a:solidFill>
          <a:ln w="15240">
            <a:solidFill>
              <a:srgbClr val="06D6A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10128" y="3758184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D6A0"/>
                </a:solidFill>
              </a:rPr>
              <a:t>Random Forest  ★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310128" y="4041648"/>
            <a:ext cx="261518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31 TN · 19 FP · 7 FN · 43 TP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Acc=0.74 — En düşük FN (7)!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Doğruları kaçırma en az.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72784" y="3712464"/>
            <a:ext cx="2798064" cy="1353312"/>
          </a:xfrm>
          <a:prstGeom prst="rect">
            <a:avLst/>
          </a:prstGeom>
          <a:solidFill>
            <a:srgbClr val="0A1628"/>
          </a:solidFill>
          <a:ln w="15240">
            <a:solidFill>
              <a:srgbClr val="FFD16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64224" y="3758184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166"/>
                </a:solidFill>
              </a:rPr>
              <a:t>Gradient Boosting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364224" y="4041648"/>
            <a:ext cx="261518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32 TN · 18 FP · 9 FN · 41 TP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Acc=0.73 — RF'e çok yakın;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en az FP (18) ama FN biraz yüksek.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0"/>
            <a:ext cx="8686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ROC Eğrisi Analizi</a:t>
            </a:r>
            <a:endParaRPr lang="en-US" sz="2000" dirty="0"/>
          </a:p>
        </p:txBody>
      </p:sp>
      <p:pic>
        <p:nvPicPr>
          <p:cNvPr id="5" name="Image 0" descr="/Users/betularslan/Desktop/bilgisayarla görü 26/rapor_gorseller/fig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822960"/>
            <a:ext cx="5577840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989320" y="1005840"/>
            <a:ext cx="2212116" cy="347472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92876" y="10058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B6"/>
                </a:solidFill>
              </a:rPr>
              <a:t>AUC=0.756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989320" y="13716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Logistic Regression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989320" y="1810512"/>
            <a:ext cx="2349642" cy="34747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430402" y="181051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D6A0"/>
                </a:solidFill>
              </a:rPr>
              <a:t>AUC=0.803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89320" y="21762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Random Forest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989320" y="2615184"/>
            <a:ext cx="2317455" cy="347472"/>
          </a:xfrm>
          <a:prstGeom prst="rect">
            <a:avLst/>
          </a:prstGeom>
          <a:solidFill>
            <a:srgbClr val="D45A00"/>
          </a:solidFill>
          <a:ln w="12700">
            <a:solidFill>
              <a:srgbClr val="D45A0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398215" y="261518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5A00"/>
                </a:solidFill>
              </a:rPr>
              <a:t>AUC=0.792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989320" y="29809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Gradient Boosting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989320" y="3493008"/>
            <a:ext cx="2926080" cy="1161288"/>
          </a:xfrm>
          <a:prstGeom prst="rect">
            <a:avLst/>
          </a:prstGeom>
          <a:solidFill>
            <a:srgbClr val="E8F7FB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08192" y="3493008"/>
            <a:ext cx="274320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77B6"/>
                </a:solidFill>
              </a:rPr>
              <a:t>Temel bulgu
</a:t>
            </a:r>
            <a:pPr indent="0" marL="0">
              <a:buNone/>
            </a:pPr>
            <a:r>
              <a:rPr lang="en-US" sz="1050" dirty="0">
                <a:solidFill>
                  <a:srgbClr val="0D1B2A"/>
                </a:solidFill>
              </a:rPr>
              <a:t>• Tüm AUC &gt; 0.75 → sinyal anlamlı
</a:t>
            </a:r>
            <a:pPr indent="0" marL="0">
              <a:buNone/>
            </a:pPr>
            <a:r>
              <a:rPr lang="en-US" sz="1050" dirty="0">
                <a:solidFill>
                  <a:srgbClr val="0D1B2A"/>
                </a:solidFill>
              </a:rPr>
              <a:t>• 3 model birbirine çok yakın
</a:t>
            </a:r>
            <a:pPr indent="0" marL="0">
              <a:buNone/>
            </a:pPr>
            <a:r>
              <a:rPr lang="en-US" sz="1050" dirty="0">
                <a:solidFill>
                  <a:srgbClr val="0D1B2A"/>
                </a:solidFill>
              </a:rPr>
              <a:t>• RF eğrisi biraz daha erken yükseliyor
</a:t>
            </a:r>
            <a:pPr indent="0" marL="0">
              <a:buNone/>
            </a:pPr>
            <a:r>
              <a:rPr lang="en-US" sz="1050" dirty="0">
                <a:solidFill>
                  <a:srgbClr val="0D1B2A"/>
                </a:solidFill>
              </a:rPr>
              <a:t>• GB ile RF farkı minimal (0.011)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0"/>
            <a:ext cx="8686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Feature Importance — Hangi Özellikler Tahmin Ediyor?</a:t>
            </a:r>
            <a:endParaRPr lang="en-US" sz="2000" dirty="0"/>
          </a:p>
        </p:txBody>
      </p:sp>
      <p:pic>
        <p:nvPicPr>
          <p:cNvPr id="5" name="Image 0" descr="/Users/betularslan/Desktop/bilgisayarla görü 26/rapor_gorseller/fig_feat_im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822960"/>
            <a:ext cx="8631936" cy="28163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3712464"/>
            <a:ext cx="9144000" cy="1417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4592" y="3785616"/>
            <a:ext cx="2148840" cy="1234440"/>
          </a:xfrm>
          <a:prstGeom prst="rect">
            <a:avLst/>
          </a:prstGeom>
          <a:solidFill>
            <a:srgbClr val="0A1628"/>
          </a:solidFill>
          <a:ln w="15240">
            <a:solidFill>
              <a:srgbClr val="00B4D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56032" y="383133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#1  mean_first10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56032" y="4114800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0.147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56032" y="4352544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DD7EE"/>
                </a:solidFill>
              </a:rPr>
              <a:t>İlk 10 token güveni: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BDD7EE"/>
                </a:solidFill>
              </a:rPr>
              <a:t>128-token üretimde başlangıç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BDD7EE"/>
                </a:solidFill>
              </a:rPr>
              <a:t>profili en belirleyici sinyal.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404872" y="3785616"/>
            <a:ext cx="2148840" cy="1234440"/>
          </a:xfrm>
          <a:prstGeom prst="rect">
            <a:avLst/>
          </a:prstGeom>
          <a:solidFill>
            <a:srgbClr val="0A1628"/>
          </a:solidFill>
          <a:ln w="15240">
            <a:solidFill>
              <a:srgbClr val="06D6A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496312" y="383133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D6A0"/>
                </a:solidFill>
              </a:rPr>
              <a:t>#2  mean_last10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96312" y="4114800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0.107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496312" y="4352544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DD7EE"/>
                </a:solidFill>
              </a:rPr>
              <a:t>Son 10 token güveni: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BDD7EE"/>
                </a:solidFill>
              </a:rPr>
              <a:t>doğru cevap yaklaşınca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BDD7EE"/>
                </a:solidFill>
              </a:rPr>
              <a:t> model emin oluyor.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645152" y="3785616"/>
            <a:ext cx="2148840" cy="1234440"/>
          </a:xfrm>
          <a:prstGeom prst="rect">
            <a:avLst/>
          </a:prstGeom>
          <a:solidFill>
            <a:srgbClr val="0A1628"/>
          </a:solidFill>
          <a:ln w="15240">
            <a:solidFill>
              <a:srgbClr val="FFD16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36592" y="383133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166"/>
                </a:solidFill>
              </a:rPr>
              <a:t>#3  q75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736592" y="4114800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0.095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736592" y="4352544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DD7EE"/>
                </a:solidFill>
              </a:rPr>
              <a:t>3. çeyrek güven farkı: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BDD7EE"/>
                </a:solidFill>
              </a:rPr>
              <a:t>dağılımın üst yarısı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BDD7EE"/>
                </a:solidFill>
              </a:rPr>
              <a:t>doğrularla örtüşüyor.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885432" y="3785616"/>
            <a:ext cx="2148840" cy="1234440"/>
          </a:xfrm>
          <a:prstGeom prst="rect">
            <a:avLst/>
          </a:prstGeom>
          <a:solidFill>
            <a:srgbClr val="0A1628"/>
          </a:solidFill>
          <a:ln w="15240">
            <a:solidFill>
              <a:srgbClr val="F4A26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76872" y="383133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A261"/>
                </a:solidFill>
              </a:rPr>
              <a:t>#4-5  median / min_region_mean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976872" y="4114800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0.086–0.082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976872" y="4352544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DD7EE"/>
                </a:solidFill>
              </a:rPr>
              <a:t>Ortanca &amp; min bölge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BDD7EE"/>
                </a:solidFill>
              </a:rPr>
              <a:t>orthalaması: stabil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BDD7EE"/>
                </a:solidFill>
              </a:rPr>
              <a:t>bir profil göstergesi.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0"/>
            <a:ext cx="8686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Top1−Top2 Fark Dağılımı: Doğru vs Yanlış</a:t>
            </a:r>
            <a:endParaRPr lang="en-US" sz="2000" dirty="0"/>
          </a:p>
        </p:txBody>
      </p:sp>
      <p:pic>
        <p:nvPicPr>
          <p:cNvPr id="5" name="Image 0" descr="/Users/betularslan/Desktop/bilgisayarla görü 26/rapor_gorseller/fig_d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822960"/>
            <a:ext cx="8631936" cy="28163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3712464"/>
            <a:ext cx="9144000" cy="1417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4592" y="3785616"/>
            <a:ext cx="2834640" cy="1234440"/>
          </a:xfrm>
          <a:prstGeom prst="rect">
            <a:avLst/>
          </a:prstGeom>
          <a:solidFill>
            <a:srgbClr val="0A1628"/>
          </a:solidFill>
          <a:ln w="15240">
            <a:solidFill>
              <a:srgbClr val="00B4D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56032" y="38313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Histogram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56032" y="4114800"/>
            <a:ext cx="26517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Doğru cevaplarda dağılım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0.82–0.90 bandında yoğunlaşıyor;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yanlışlar daha geniş &amp; sola yayılı.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182112" y="3785616"/>
            <a:ext cx="2834640" cy="1234440"/>
          </a:xfrm>
          <a:prstGeom prst="rect">
            <a:avLst/>
          </a:prstGeom>
          <a:solidFill>
            <a:srgbClr val="0A1628"/>
          </a:solidFill>
          <a:ln w="15240">
            <a:solidFill>
              <a:srgbClr val="06D6A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273552" y="38313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D6A0"/>
                </a:solidFill>
              </a:rPr>
              <a:t>Violin Plot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273552" y="4114800"/>
            <a:ext cx="26517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Doğrularda dağılım dar &amp; yukarıda;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yanlışlarda kuyruk 0.65'e kadar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iniyor → düşük güven sinyali.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199632" y="3785616"/>
            <a:ext cx="2834640" cy="1234440"/>
          </a:xfrm>
          <a:prstGeom prst="rect">
            <a:avLst/>
          </a:prstGeom>
          <a:solidFill>
            <a:srgbClr val="0A1628"/>
          </a:solidFill>
          <a:ln w="15240">
            <a:solidFill>
              <a:srgbClr val="FFD16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91072" y="38313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166"/>
                </a:solidFill>
              </a:rPr>
              <a:t>Token Bazlı Fark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291072" y="4114800"/>
            <a:ext cx="26517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128-token üretimde doğru cevap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(yeşil) baştan sona yüksek δ.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Yanlış (kırmızı) çok daha kaotik.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3108960"/>
            <a:ext cx="3474720" cy="3474720"/>
          </a:xfrm>
          <a:prstGeom prst="ellipse">
            <a:avLst/>
          </a:prstGeom>
          <a:solidFill>
            <a:srgbClr val="0077B6">
              <a:alpha val="15000"/>
            </a:srgbClr>
          </a:solidFill>
          <a:ln w="12700">
            <a:solidFill>
              <a:srgbClr val="0077B6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548640"/>
            <a:ext cx="2560320" cy="2560320"/>
          </a:xfrm>
          <a:prstGeom prst="ellipse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>
                <a:alpha val="18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841248"/>
            <a:ext cx="173736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60704"/>
            <a:ext cx="365760" cy="365760"/>
          </a:xfrm>
          <a:prstGeom prst="ellipse">
            <a:avLst/>
          </a:prstGeom>
          <a:solidFill>
            <a:srgbClr val="06D6A0">
              <a:alpha val="78000"/>
            </a:srgbClr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60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9264" y="10241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Top1−Top2 farkı, cevap doğruluğunu tahmin etmek için anlamlı sinyal sağlıyor (tüm AUC &gt; 0.75)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1719072"/>
            <a:ext cx="365760" cy="365760"/>
          </a:xfrm>
          <a:prstGeom prst="ellipse">
            <a:avLst/>
          </a:prstGeom>
          <a:solidFill>
            <a:srgbClr val="FFD166">
              <a:alpha val="78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719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★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9264" y="168249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Random Forest en iyi: F1=0.7679  AUC=0.8032  Accuracy=0.74  —  640 eğitim / 100 test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365760" cy="365760"/>
          </a:xfrm>
          <a:prstGeom prst="ellipse">
            <a:avLst/>
          </a:prstGeom>
          <a:solidFill>
            <a:srgbClr val="00B4D8">
              <a:alpha val="78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▲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9264" y="234086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mean_first10 ve mean_last10 en kritik: üretim başı ve sonu güven profili belirleyici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3035808"/>
            <a:ext cx="365760" cy="365760"/>
          </a:xfrm>
          <a:prstGeom prst="ellipse">
            <a:avLst/>
          </a:prstGeom>
          <a:solidFill>
            <a:srgbClr val="EF476F">
              <a:alpha val="78000"/>
            </a:srgbClr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035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9264" y="29992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Sınırlılık: MAX_NEW_TOKENS=128 + thinking model → gerçek doğruluk ölçülemiyor (%30.8 teknik kısıt)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3694176"/>
            <a:ext cx="365760" cy="365760"/>
          </a:xfrm>
          <a:prstGeom prst="ellipse">
            <a:avLst/>
          </a:prstGeom>
          <a:solidFill>
            <a:srgbClr val="7AABB8">
              <a:alpha val="78000"/>
            </a:srgbClr>
          </a:solidFill>
          <a:ln w="12700">
            <a:solidFill>
              <a:srgbClr val="7AAB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→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9264" y="3657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Gelecek: 2048+ token, daha büyük test seti, eşik optimizasyonu ve daha zengin özellikler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2026-06-15T07:00:59Z</dcterms:created>
  <dcterms:modified xsi:type="dcterms:W3CDTF">2026-06-15T07:00:59Z</dcterms:modified>
</cp:coreProperties>
</file>