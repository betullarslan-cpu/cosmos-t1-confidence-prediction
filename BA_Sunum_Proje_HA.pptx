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D383EF-4E0E-F806-4D1D-97BC6F3FB1AF}" v="90" dt="2026-06-15T08:35:21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F1-score</c:v>
          </c:tx>
          <c:spPr>
            <a:solidFill>
              <a:srgbClr val="0F766E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LR</c:v>
              </c:pt>
              <c:pt idx="1">
                <c:v>RF</c:v>
              </c:pt>
              <c:pt idx="2">
                <c:v>GB</c:v>
              </c:pt>
            </c:strLit>
          </c:cat>
          <c:val>
            <c:numLit>
              <c:formatCode>0.00</c:formatCode>
              <c:ptCount val="3"/>
              <c:pt idx="0">
                <c:v>0.70269999999999999</c:v>
              </c:pt>
              <c:pt idx="1">
                <c:v>0.76790000000000003</c:v>
              </c:pt>
              <c:pt idx="2">
                <c:v>0.75229999999999997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890-4E0A-A0FA-B0915FAEAE1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475569"/>
                </a:solidFill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85"/>
          <c:min val="0.6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475569"/>
                </a:solidFill>
              </a:defRPr>
            </a:pPr>
            <a:endParaRPr lang="tr-TR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ikdörtgen 20">
            <a:extLst>
              <a:ext uri="{FF2B5EF4-FFF2-40B4-BE49-F238E27FC236}">
                <a16:creationId xmlns:a16="http://schemas.microsoft.com/office/drawing/2014/main" id="{B8658665-6749-4F11-B8F7-665DF91D4961}"/>
              </a:ext>
            </a:extLst>
          </p:cNvPr>
          <p:cNvSpPr>
            <a:spLocks noGrp="1"/>
          </p:cNvSpPr>
          <p:nvPr/>
        </p:nvSpPr>
        <p:spPr>
          <a:xfrm>
            <a:off x="-176893" y="95250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endParaRPr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96FDCB3A-1CF0-4314-AE22-6D57BC631C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7C3C7A40-AFA6-4162-A0A2-8644CC2F6F95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HESAPLAMALI ANLAMBILIM FINAL PROJESI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9EBEC04-C4DC-4254-97A6-08848020BC02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7239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Top1-top2 olasılık farkı ile</a:t>
            </a:r>
          </a:p>
          <a:p>
            <a:pPr>
              <a:defRPr sz="37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cevap doğruluğu tahmini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D0D0C11-8030-4F3E-BDE1-E9F6590F6BEB}"/>
              </a:ext>
            </a:extLst>
          </p:cNvPr>
          <p:cNvSpPr>
            <a:spLocks noGrp="1"/>
          </p:cNvSpPr>
          <p:nvPr/>
        </p:nvSpPr>
        <p:spPr>
          <a:xfrm>
            <a:off x="704850" y="2609850"/>
            <a:ext cx="723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475569"/>
                </a:solidFill>
                <a:latin typeface="Aptos"/>
                <a:ea typeface="Aptos"/>
                <a:cs typeface="Aptos"/>
              </a:rPr>
              <a:t>Cosmos-T1 modelinin GSM8K-TR sorularındaki üretim güven sinyalini klasik ML modelleriyle sınıflandırma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B9779CF7-9925-4E2A-8D94-2E342475826D}"/>
              </a:ext>
            </a:extLst>
          </p:cNvPr>
          <p:cNvSpPr>
            <a:spLocks noGrp="1"/>
          </p:cNvSpPr>
          <p:nvPr/>
        </p:nvSpPr>
        <p:spPr>
          <a:xfrm>
            <a:off x="8286750" y="1333500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3736CF6A-0766-4111-AA01-F94697782F7F}"/>
              </a:ext>
            </a:extLst>
          </p:cNvPr>
          <p:cNvSpPr>
            <a:spLocks noGrp="1"/>
          </p:cNvSpPr>
          <p:nvPr/>
        </p:nvSpPr>
        <p:spPr>
          <a:xfrm>
            <a:off x="8515350" y="1543050"/>
            <a:ext cx="2114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rPr>
              <a:t>1776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274FF9C-CA5B-4BA6-9036-182D1410C4EB}"/>
              </a:ext>
            </a:extLst>
          </p:cNvPr>
          <p:cNvSpPr>
            <a:spLocks noGrp="1"/>
          </p:cNvSpPr>
          <p:nvPr/>
        </p:nvSpPr>
        <p:spPr>
          <a:xfrm>
            <a:off x="8515350" y="207645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Üretilen soru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EAB1438-7563-45A2-9684-1D6958031A1F}"/>
              </a:ext>
            </a:extLst>
          </p:cNvPr>
          <p:cNvSpPr>
            <a:spLocks noGrp="1"/>
          </p:cNvSpPr>
          <p:nvPr/>
        </p:nvSpPr>
        <p:spPr>
          <a:xfrm>
            <a:off x="8515350" y="234315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koşu tamamlandı</a:t>
            </a: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575A5D36-B0F4-4B9F-B612-125AD40078B7}"/>
              </a:ext>
            </a:extLst>
          </p:cNvPr>
          <p:cNvSpPr>
            <a:spLocks noGrp="1"/>
          </p:cNvSpPr>
          <p:nvPr/>
        </p:nvSpPr>
        <p:spPr>
          <a:xfrm>
            <a:off x="8286750" y="2952750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FF2493F3-1A04-4C70-B919-D8AFC1F32278}"/>
              </a:ext>
            </a:extLst>
          </p:cNvPr>
          <p:cNvSpPr>
            <a:spLocks noGrp="1"/>
          </p:cNvSpPr>
          <p:nvPr/>
        </p:nvSpPr>
        <p:spPr>
          <a:xfrm>
            <a:off x="8515350" y="3162300"/>
            <a:ext cx="2114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551 / 1225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48A33F80-3BDA-44B0-BEA3-374C0C3DEFA2}"/>
              </a:ext>
            </a:extLst>
          </p:cNvPr>
          <p:cNvSpPr>
            <a:spLocks noGrp="1"/>
          </p:cNvSpPr>
          <p:nvPr/>
        </p:nvSpPr>
        <p:spPr>
          <a:xfrm>
            <a:off x="8515350" y="382905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Doğru / yanlış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67B4C427-0241-4DB2-9FA8-7B6C7FF8C010}"/>
              </a:ext>
            </a:extLst>
          </p:cNvPr>
          <p:cNvSpPr>
            <a:spLocks noGrp="1"/>
          </p:cNvSpPr>
          <p:nvPr/>
        </p:nvSpPr>
        <p:spPr>
          <a:xfrm>
            <a:off x="8515350" y="409575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1000 train + 100 test hazır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1322F815-B5DE-453C-AD8C-F942EBF940FA}"/>
              </a:ext>
            </a:extLst>
          </p:cNvPr>
          <p:cNvSpPr>
            <a:spLocks noGrp="1"/>
          </p:cNvSpPr>
          <p:nvPr/>
        </p:nvSpPr>
        <p:spPr>
          <a:xfrm>
            <a:off x="8286750" y="4572000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D884B884-2815-4C2E-81B3-2A763D768D81}"/>
              </a:ext>
            </a:extLst>
          </p:cNvPr>
          <p:cNvSpPr>
            <a:spLocks noGrp="1"/>
          </p:cNvSpPr>
          <p:nvPr/>
        </p:nvSpPr>
        <p:spPr>
          <a:xfrm>
            <a:off x="8515350" y="4781550"/>
            <a:ext cx="2114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Random Forest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62F69368-2AEB-4954-9A7F-4AD290C18C66}"/>
              </a:ext>
            </a:extLst>
          </p:cNvPr>
          <p:cNvSpPr>
            <a:spLocks noGrp="1"/>
          </p:cNvSpPr>
          <p:nvPr/>
        </p:nvSpPr>
        <p:spPr>
          <a:xfrm>
            <a:off x="8515350" y="54483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 iyi final model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0052C1A8-E084-4388-8ACD-528DD17F3F1F}"/>
              </a:ext>
            </a:extLst>
          </p:cNvPr>
          <p:cNvSpPr>
            <a:spLocks noGrp="1"/>
          </p:cNvSpPr>
          <p:nvPr/>
        </p:nvSpPr>
        <p:spPr>
          <a:xfrm>
            <a:off x="8515350" y="57150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RF: F1=0.7429 · AUC=0.7824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250D4412-8CD7-46BE-96B3-3E25BEABE103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Betül Arslan  ·  Turkish-Gemma-9B-T1  ·  ytu-ce-cosmos/gsm8k_tr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5D045D3-A97D-476A-B463-962EEA6464B9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DEBB0352-515C-A70C-2402-1FD4C7834D2A}"/>
              </a:ext>
            </a:extLst>
          </p:cNvPr>
          <p:cNvSpPr txBox="1"/>
          <p:nvPr/>
        </p:nvSpPr>
        <p:spPr>
          <a:xfrm>
            <a:off x="653143" y="5007429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https://github.com/betullarslan-cpu/cosmos-t1-confidence-prediction/</a:t>
            </a:r>
          </a:p>
          <a:p>
            <a:endParaRPr lang="en-US" dirty="0"/>
          </a:p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614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ikdörtgen 14">
            <a:extLst>
              <a:ext uri="{FF2B5EF4-FFF2-40B4-BE49-F238E27FC236}">
                <a16:creationId xmlns:a16="http://schemas.microsoft.com/office/drawing/2014/main" id="{66241E27-D812-4223-A3DF-B7A0325F62C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err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Araştırma</a:t>
            </a:r>
            <a:r>
              <a:rPr sz="240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00" b="1" err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sorusu</a:t>
            </a:r>
            <a:endParaRPr lang="tr-TR" sz="2400" b="1" err="1">
              <a:solidFill>
                <a:srgbClr val="0F17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757B508-A5AE-4EAB-ACDB-2228CF2B6EF0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Token düzeyindeki olasılık farklarını, cevap düzeyinde doğru/yanlış tahmini için kullanıyoruz.</a:t>
            </a:r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69D7A435-D27E-4A50-B3CA-FA933FE065E8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5052848" cy="2896256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A5B304FF-14EB-4BB4-8655-FC0F31554B45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HIPOTEZ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ACC28FE-8DF9-4CA4-A93C-1324FDAF9343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Doğru cevaplarda modelin token seçimi daha kararlı olur.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EA9C921E-5331-410D-B57C-A18CBAC1F7D7}"/>
              </a:ext>
            </a:extLst>
          </p:cNvPr>
          <p:cNvSpPr>
            <a:spLocks noGrp="1"/>
          </p:cNvSpPr>
          <p:nvPr/>
        </p:nvSpPr>
        <p:spPr>
          <a:xfrm>
            <a:off x="990600" y="2952750"/>
            <a:ext cx="4095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Top1-top2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farkı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büyükse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model ilk token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seçimine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daha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emindir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Yanlış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cevaplarda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fark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dizisi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daha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değişken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ya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da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düşük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olabilir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Bu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sinyal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doğrudan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cevabı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okumadan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güven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tahmini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sağlar</a:t>
            </a:r>
            <a:r>
              <a:rPr sz="12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CCA9B79B-7D5D-447C-BBB2-ACAFF3CAF0F0}"/>
              </a:ext>
            </a:extLst>
          </p:cNvPr>
          <p:cNvSpPr>
            <a:spLocks noGrp="1"/>
          </p:cNvSpPr>
          <p:nvPr/>
        </p:nvSpPr>
        <p:spPr>
          <a:xfrm>
            <a:off x="6115050" y="1600200"/>
            <a:ext cx="47244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BBB057A-8AE8-4457-AAE1-B71425313EED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SINIFLANDIRMA HEDEFI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73555800-8C9D-4619-A1EC-27DA143A3AF2}"/>
              </a:ext>
            </a:extLst>
          </p:cNvPr>
          <p:cNvSpPr>
            <a:spLocks noGrp="1"/>
          </p:cNvSpPr>
          <p:nvPr/>
        </p:nvSpPr>
        <p:spPr>
          <a:xfrm>
            <a:off x="6381750" y="22098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Her soru için tek etiket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33EB9CB2-A03A-446A-9D84-9E0E4434E670}"/>
              </a:ext>
            </a:extLst>
          </p:cNvPr>
          <p:cNvSpPr>
            <a:spLocks noGrp="1"/>
          </p:cNvSpPr>
          <p:nvPr/>
        </p:nvSpPr>
        <p:spPr>
          <a:xfrm>
            <a:off x="6419850" y="2724150"/>
            <a:ext cx="3905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1 = modelin sayısal cevabı doğru</a:t>
            </a:r>
          </a:p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0 = modelin sayısal cevabı yanlış</a:t>
            </a:r>
          </a:p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Girdi: top1-top2 dizisinden 18 istatistiksel özellik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1F2774A9-8035-42D6-ACBF-CE0F39CD9ECA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endParaRPr lang="tr-TR" sz="1500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9471C9D3-1E7E-403C-890D-B9AA5BABC983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F172A"/>
                </a:solidFill>
                <a:latin typeface="Aptos"/>
                <a:ea typeface="Aptos"/>
                <a:cs typeface="Aptos"/>
              </a:rPr>
              <a:t>Bu yaklaşım, büyük dil modelinin metin çıktısından bağımsız olarak üretim sürecindeki belirsizlik bilgisini ölçer. Böylece cevabı otomatik kontrol edemediğimiz durumlarda güven temelli uyarı mekanizması kurulabilir.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76F6BDE0-6976-4501-9E9C-616EC93B3978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238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ikdörtgen 26">
            <a:extLst>
              <a:ext uri="{FF2B5EF4-FFF2-40B4-BE49-F238E27FC236}">
                <a16:creationId xmlns:a16="http://schemas.microsoft.com/office/drawing/2014/main" id="{46D003B7-6F0A-43CB-82AA-442D7B982C25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lang="tr-TR" sz="2400" b="1" err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Uçtan</a:t>
            </a:r>
            <a:r>
              <a:rPr lang="tr-TR" sz="240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tr-TR" sz="2400" b="1" err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uca</a:t>
            </a:r>
            <a:r>
              <a:rPr lang="tr-TR" sz="240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tr-TR" sz="2400" b="1" err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akış</a:t>
            </a:r>
            <a:r>
              <a:rPr lang="tr-TR" sz="240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: </a:t>
            </a:r>
            <a:r>
              <a:rPr lang="tr-TR"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üretimden</a:t>
            </a:r>
            <a:r>
              <a:rPr lang="tr-TR" sz="240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ML </a:t>
            </a:r>
            <a:r>
              <a:rPr sz="2400" b="1" err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değerlendirmesine</a:t>
            </a:r>
            <a:endParaRPr lang="tr-TR" sz="2400" b="1">
              <a:solidFill>
                <a:srgbClr val="0F17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B7016F42-26B5-4482-9DD0-27A0F263FEB9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Her aşama checkpointlenebilir; Colab kesilirse JSON çıktısından devam edilir.</a:t>
            </a:r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A4119209-3A2D-471E-ACDE-2A8EF9D3A799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A6A39AB-03F6-4855-9824-3AECB268B086}"/>
              </a:ext>
            </a:extLst>
          </p:cNvPr>
          <p:cNvSpPr>
            <a:spLocks noGrp="1"/>
          </p:cNvSpPr>
          <p:nvPr/>
        </p:nvSpPr>
        <p:spPr>
          <a:xfrm>
            <a:off x="933450" y="211455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GSM8K-TR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6DFCBF4-C77F-47D7-B61D-CDA140A60BFF}"/>
              </a:ext>
            </a:extLst>
          </p:cNvPr>
          <p:cNvSpPr>
            <a:spLocks noGrp="1"/>
          </p:cNvSpPr>
          <p:nvPr/>
        </p:nvSpPr>
        <p:spPr>
          <a:xfrm>
            <a:off x="933450" y="25717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Türkçe matematik soruları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6D3F890-C34B-4893-9953-6040509E513A}"/>
              </a:ext>
            </a:extLst>
          </p:cNvPr>
          <p:cNvSpPr>
            <a:spLocks noGrp="1"/>
          </p:cNvSpPr>
          <p:nvPr/>
        </p:nvSpPr>
        <p:spPr>
          <a:xfrm>
            <a:off x="2457450" y="22860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F85B101E-FF9E-4D86-8996-58B3A92B8F5B}"/>
              </a:ext>
            </a:extLst>
          </p:cNvPr>
          <p:cNvSpPr>
            <a:spLocks noGrp="1"/>
          </p:cNvSpPr>
          <p:nvPr/>
        </p:nvSpPr>
        <p:spPr>
          <a:xfrm>
            <a:off x="2857500" y="18097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08D2FCAE-5B40-4938-9D7D-379F0EF54225}"/>
              </a:ext>
            </a:extLst>
          </p:cNvPr>
          <p:cNvSpPr>
            <a:spLocks noGrp="1"/>
          </p:cNvSpPr>
          <p:nvPr/>
        </p:nvSpPr>
        <p:spPr>
          <a:xfrm>
            <a:off x="3028950" y="211455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Cosmos-T1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C99E683A-D9FA-4707-967E-616C3AA88ADA}"/>
              </a:ext>
            </a:extLst>
          </p:cNvPr>
          <p:cNvSpPr>
            <a:spLocks noGrp="1"/>
          </p:cNvSpPr>
          <p:nvPr/>
        </p:nvSpPr>
        <p:spPr>
          <a:xfrm>
            <a:off x="3028950" y="25717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Greedy cevap üretimi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EA545C7-1FC2-455D-9090-01735A4D4A32}"/>
              </a:ext>
            </a:extLst>
          </p:cNvPr>
          <p:cNvSpPr>
            <a:spLocks noGrp="1"/>
          </p:cNvSpPr>
          <p:nvPr/>
        </p:nvSpPr>
        <p:spPr>
          <a:xfrm>
            <a:off x="4552950" y="22860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0C1FF862-8D86-449F-B441-F0437682E762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9525">
            <a:solidFill>
              <a:srgbClr val="99F6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9298070A-3776-47A7-AF85-CE7BDBA62C28}"/>
              </a:ext>
            </a:extLst>
          </p:cNvPr>
          <p:cNvSpPr>
            <a:spLocks noGrp="1"/>
          </p:cNvSpPr>
          <p:nvPr/>
        </p:nvSpPr>
        <p:spPr>
          <a:xfrm>
            <a:off x="5124450" y="211455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Top1-top2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5E468832-74A2-4B2C-9796-5096C37E7ACA}"/>
              </a:ext>
            </a:extLst>
          </p:cNvPr>
          <p:cNvSpPr>
            <a:spLocks noGrp="1"/>
          </p:cNvSpPr>
          <p:nvPr/>
        </p:nvSpPr>
        <p:spPr>
          <a:xfrm>
            <a:off x="5124450" y="25717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Her token için δ(t)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30EB3D9E-5DBD-4201-816C-DC4B2A02539B}"/>
              </a:ext>
            </a:extLst>
          </p:cNvPr>
          <p:cNvSpPr>
            <a:spLocks noGrp="1"/>
          </p:cNvSpPr>
          <p:nvPr/>
        </p:nvSpPr>
        <p:spPr>
          <a:xfrm>
            <a:off x="6648450" y="22860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72F3AF26-0AA4-4D6D-9CBD-DE3D2F3DA2CE}"/>
              </a:ext>
            </a:extLst>
          </p:cNvPr>
          <p:cNvSpPr>
            <a:spLocks noGrp="1"/>
          </p:cNvSpPr>
          <p:nvPr/>
        </p:nvSpPr>
        <p:spPr>
          <a:xfrm>
            <a:off x="7048500" y="18097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2E7CAC98-FBB7-4080-9C95-CD6F42BEE1D7}"/>
              </a:ext>
            </a:extLst>
          </p:cNvPr>
          <p:cNvSpPr>
            <a:spLocks noGrp="1"/>
          </p:cNvSpPr>
          <p:nvPr/>
        </p:nvSpPr>
        <p:spPr>
          <a:xfrm>
            <a:off x="7219950" y="211455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18 özellik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B323643-6D84-46DF-B286-A11B3AF31B05}"/>
              </a:ext>
            </a:extLst>
          </p:cNvPr>
          <p:cNvSpPr>
            <a:spLocks noGrp="1"/>
          </p:cNvSpPr>
          <p:nvPr/>
        </p:nvSpPr>
        <p:spPr>
          <a:xfrm>
            <a:off x="7219950" y="25717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Sabit uzunluklu vektör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B8546289-3B9C-4553-8832-067BF836D323}"/>
              </a:ext>
            </a:extLst>
          </p:cNvPr>
          <p:cNvSpPr>
            <a:spLocks noGrp="1"/>
          </p:cNvSpPr>
          <p:nvPr/>
        </p:nvSpPr>
        <p:spPr>
          <a:xfrm>
            <a:off x="8743950" y="22860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176205E4-EEFE-4F6E-A630-85ADBEB32F03}"/>
              </a:ext>
            </a:extLst>
          </p:cNvPr>
          <p:cNvSpPr>
            <a:spLocks noGrp="1"/>
          </p:cNvSpPr>
          <p:nvPr/>
        </p:nvSpPr>
        <p:spPr>
          <a:xfrm>
            <a:off x="9144000" y="18097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53D71992-1592-46C5-958D-F8AADB4CCBF7}"/>
              </a:ext>
            </a:extLst>
          </p:cNvPr>
          <p:cNvSpPr>
            <a:spLocks noGrp="1"/>
          </p:cNvSpPr>
          <p:nvPr/>
        </p:nvSpPr>
        <p:spPr>
          <a:xfrm>
            <a:off x="9315450" y="211455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ML modelleri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401C6FA2-1815-403A-A832-13A059ADFAC8}"/>
              </a:ext>
            </a:extLst>
          </p:cNvPr>
          <p:cNvSpPr>
            <a:spLocks noGrp="1"/>
          </p:cNvSpPr>
          <p:nvPr/>
        </p:nvSpPr>
        <p:spPr>
          <a:xfrm>
            <a:off x="9315450" y="25717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LR · RF · GB</a:t>
            </a:r>
          </a:p>
        </p:txBody>
      </p:sp>
      <p:sp>
        <p:nvSpPr>
          <p:cNvPr id="22" name="Dikdörtgen: Köşeleri Yuvarlatılmış 21">
            <a:extLst>
              <a:ext uri="{FF2B5EF4-FFF2-40B4-BE49-F238E27FC236}">
                <a16:creationId xmlns:a16="http://schemas.microsoft.com/office/drawing/2014/main" id="{060721EB-FBCC-46F0-B77E-6B9735C919D7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9810750" cy="1381125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7921EDF1-3FDE-4914-A4D3-E4382EA96050}"/>
              </a:ext>
            </a:extLst>
          </p:cNvPr>
          <p:cNvSpPr>
            <a:spLocks noGrp="1"/>
          </p:cNvSpPr>
          <p:nvPr/>
        </p:nvSpPr>
        <p:spPr>
          <a:xfrm>
            <a:off x="1257300" y="42862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Değerlendirme metrikleri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A60866BE-3DCA-4A5B-8774-FDD83217676D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Confusion matrix: yanlış/doğru sınıf hatalarını ayrı görür.</a:t>
            </a:r>
          </a:p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Accuracy, Precision, Recall, F1-score: sınıflandırma başarısını özetler.</a:t>
            </a:r>
          </a:p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ROC-AUC: eşik değişse bile modelin ayırma gücünü ölçer.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BEF7F1B3-54BF-4EEE-997A-363EA17B0C00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2828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Dikdörtgen 41">
            <a:extLst>
              <a:ext uri="{FF2B5EF4-FFF2-40B4-BE49-F238E27FC236}">
                <a16:creationId xmlns:a16="http://schemas.microsoft.com/office/drawing/2014/main" id="{E791B4F3-1D34-41FA-AC65-A20874ACA20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Top1-top2 farkı cevap boyunca bir güven zaman serisidir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C35552FE-4E53-4232-9E58-C46B0C856952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Değişken uzunluklu token dizisi, istatistiksel özetlerle sabit boyutlu özellik vektörüne çevrilir.</a:t>
            </a:r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92D5014D-B0F4-4F51-8FA5-E83BA548FC49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4762500" cy="180975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9525">
            <a:solidFill>
              <a:srgbClr val="99F6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D22009C-07D6-4C0A-8476-4048450D10B4}"/>
              </a:ext>
            </a:extLst>
          </p:cNvPr>
          <p:cNvSpPr>
            <a:spLocks noGrp="1"/>
          </p:cNvSpPr>
          <p:nvPr/>
        </p:nvSpPr>
        <p:spPr>
          <a:xfrm>
            <a:off x="1047750" y="1952625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δ(t) = P(top₁,t) − P(top₂,t)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692D155-61C5-45DB-A54F-E3CF37F8B753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75569"/>
                </a:solidFill>
                <a:latin typeface="Aptos"/>
                <a:ea typeface="Aptos"/>
                <a:cs typeface="Aptos"/>
              </a:rPr>
              <a:t>δ büyük: modelin birinci token seçimi baskın</a:t>
            </a:r>
          </a:p>
          <a:p>
            <a:pPr algn="ctr">
              <a:defRPr sz="12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75569"/>
                </a:solidFill>
                <a:latin typeface="Aptos"/>
                <a:ea typeface="Aptos"/>
                <a:cs typeface="Aptos"/>
              </a:rPr>
              <a:t>δ küçük: alternatif tokenlar birbirine yakın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14E9C751-3760-454D-A341-8BB1847875D9}"/>
              </a:ext>
            </a:extLst>
          </p:cNvPr>
          <p:cNvSpPr>
            <a:spLocks noGrp="1"/>
          </p:cNvSpPr>
          <p:nvPr/>
        </p:nvSpPr>
        <p:spPr>
          <a:xfrm>
            <a:off x="6096000" y="1504950"/>
            <a:ext cx="4762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4620FAE-219B-4315-AFBE-3DD707BE8EA1}"/>
              </a:ext>
            </a:extLst>
          </p:cNvPr>
          <p:cNvSpPr>
            <a:spLocks noGrp="1"/>
          </p:cNvSpPr>
          <p:nvPr/>
        </p:nvSpPr>
        <p:spPr>
          <a:xfrm>
            <a:off x="6381750" y="17907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Kayıt yöntemi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C4D0F0A-F973-4E0E-B5FC-40646B432D0E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400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LogitsProcessor ile her adımda top-2 olasılık farkı kaydedilir.</a:t>
            </a:r>
          </a:p>
          <a:p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Tüm score geçmişini saklamak gerekmez.</a:t>
            </a:r>
          </a:p>
          <a:p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Bu yöntem bellek kullanımını ve Colab riskini azaltır.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716FE6B4-BC93-48A1-846B-743AB14220AD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Özellik aileleri</a:t>
            </a: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98142E19-1BDD-4EBF-870A-AD7F9AEBAF37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8572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9526D77E-98B9-4F71-A5AD-1AD12FF7C522}"/>
              </a:ext>
            </a:extLst>
          </p:cNvPr>
          <p:cNvSpPr>
            <a:spLocks noGrp="1"/>
          </p:cNvSpPr>
          <p:nvPr/>
        </p:nvSpPr>
        <p:spPr>
          <a:xfrm>
            <a:off x="819150" y="4400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mean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80A4AD38-FF42-44CC-90B0-D3FA2B6101FD}"/>
              </a:ext>
            </a:extLst>
          </p:cNvPr>
          <p:cNvSpPr>
            <a:spLocks noGrp="1"/>
          </p:cNvSpPr>
          <p:nvPr/>
        </p:nvSpPr>
        <p:spPr>
          <a:xfrm>
            <a:off x="1657350" y="4343400"/>
            <a:ext cx="10096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A5A7315F-24D9-4C91-902C-81907CDC145A}"/>
              </a:ext>
            </a:extLst>
          </p:cNvPr>
          <p:cNvSpPr>
            <a:spLocks noGrp="1"/>
          </p:cNvSpPr>
          <p:nvPr/>
        </p:nvSpPr>
        <p:spPr>
          <a:xfrm>
            <a:off x="1790700" y="4400550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median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677F4FE3-4B7C-4B9E-89D2-39182326082F}"/>
              </a:ext>
            </a:extLst>
          </p:cNvPr>
          <p:cNvSpPr>
            <a:spLocks noGrp="1"/>
          </p:cNvSpPr>
          <p:nvPr/>
        </p:nvSpPr>
        <p:spPr>
          <a:xfrm>
            <a:off x="2781300" y="4343400"/>
            <a:ext cx="7810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D97609A0-E316-4F68-98A0-089E06441E3D}"/>
              </a:ext>
            </a:extLst>
          </p:cNvPr>
          <p:cNvSpPr>
            <a:spLocks noGrp="1"/>
          </p:cNvSpPr>
          <p:nvPr/>
        </p:nvSpPr>
        <p:spPr>
          <a:xfrm>
            <a:off x="2914650" y="44005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std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1C146DC6-A1BB-4A8E-9062-1C914262A709}"/>
              </a:ext>
            </a:extLst>
          </p:cNvPr>
          <p:cNvSpPr>
            <a:spLocks noGrp="1"/>
          </p:cNvSpPr>
          <p:nvPr/>
        </p:nvSpPr>
        <p:spPr>
          <a:xfrm>
            <a:off x="3676650" y="4343400"/>
            <a:ext cx="7810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4B84ABE8-520D-4AB5-AC7E-7CCAFBC70EEF}"/>
              </a:ext>
            </a:extLst>
          </p:cNvPr>
          <p:cNvSpPr>
            <a:spLocks noGrp="1"/>
          </p:cNvSpPr>
          <p:nvPr/>
        </p:nvSpPr>
        <p:spPr>
          <a:xfrm>
            <a:off x="3810000" y="44005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min</a:t>
            </a:r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96CBA92F-14A4-40E8-8AA7-74084AD91F08}"/>
              </a:ext>
            </a:extLst>
          </p:cNvPr>
          <p:cNvSpPr>
            <a:spLocks noGrp="1"/>
          </p:cNvSpPr>
          <p:nvPr/>
        </p:nvSpPr>
        <p:spPr>
          <a:xfrm>
            <a:off x="4572000" y="4343400"/>
            <a:ext cx="7810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34126DFF-95FB-41C9-ACFD-F1BD8790E331}"/>
              </a:ext>
            </a:extLst>
          </p:cNvPr>
          <p:cNvSpPr>
            <a:spLocks noGrp="1"/>
          </p:cNvSpPr>
          <p:nvPr/>
        </p:nvSpPr>
        <p:spPr>
          <a:xfrm>
            <a:off x="4705350" y="44005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max</a:t>
            </a:r>
          </a:p>
        </p:txBody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CB461B44-EF6B-4B4D-8D30-0EC0D239C7CE}"/>
              </a:ext>
            </a:extLst>
          </p:cNvPr>
          <p:cNvSpPr>
            <a:spLocks noGrp="1"/>
          </p:cNvSpPr>
          <p:nvPr/>
        </p:nvSpPr>
        <p:spPr>
          <a:xfrm>
            <a:off x="5467350" y="4343400"/>
            <a:ext cx="7810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0E884D8C-FF1D-448E-933D-0319B0A297E2}"/>
              </a:ext>
            </a:extLst>
          </p:cNvPr>
          <p:cNvSpPr>
            <a:spLocks noGrp="1"/>
          </p:cNvSpPr>
          <p:nvPr/>
        </p:nvSpPr>
        <p:spPr>
          <a:xfrm>
            <a:off x="5600700" y="44005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q25</a:t>
            </a:r>
          </a:p>
        </p:txBody>
      </p:sp>
      <p:sp>
        <p:nvSpPr>
          <p:cNvPr id="22" name="Dikdörtgen: Köşeleri Yuvarlatılmış 21">
            <a:extLst>
              <a:ext uri="{FF2B5EF4-FFF2-40B4-BE49-F238E27FC236}">
                <a16:creationId xmlns:a16="http://schemas.microsoft.com/office/drawing/2014/main" id="{BAFF22DC-237F-473B-8054-BDF0E29B1EE2}"/>
              </a:ext>
            </a:extLst>
          </p:cNvPr>
          <p:cNvSpPr>
            <a:spLocks noGrp="1"/>
          </p:cNvSpPr>
          <p:nvPr/>
        </p:nvSpPr>
        <p:spPr>
          <a:xfrm>
            <a:off x="6362700" y="4343400"/>
            <a:ext cx="7810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93C0AC4A-3A58-4825-A698-4C6E4435A101}"/>
              </a:ext>
            </a:extLst>
          </p:cNvPr>
          <p:cNvSpPr>
            <a:spLocks noGrp="1"/>
          </p:cNvSpPr>
          <p:nvPr/>
        </p:nvSpPr>
        <p:spPr>
          <a:xfrm>
            <a:off x="6496050" y="44005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q75</a:t>
            </a:r>
          </a:p>
        </p:txBody>
      </p:sp>
      <p:sp>
        <p:nvSpPr>
          <p:cNvPr id="24" name="Dikdörtgen: Köşeleri Yuvarlatılmış 23">
            <a:extLst>
              <a:ext uri="{FF2B5EF4-FFF2-40B4-BE49-F238E27FC236}">
                <a16:creationId xmlns:a16="http://schemas.microsoft.com/office/drawing/2014/main" id="{960F0B60-472E-48A3-98A7-E04014053715}"/>
              </a:ext>
            </a:extLst>
          </p:cNvPr>
          <p:cNvSpPr>
            <a:spLocks noGrp="1"/>
          </p:cNvSpPr>
          <p:nvPr/>
        </p:nvSpPr>
        <p:spPr>
          <a:xfrm>
            <a:off x="7258050" y="4343400"/>
            <a:ext cx="7810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ABA002BB-1A1C-4438-88C3-20264744BD3C}"/>
              </a:ext>
            </a:extLst>
          </p:cNvPr>
          <p:cNvSpPr>
            <a:spLocks noGrp="1"/>
          </p:cNvSpPr>
          <p:nvPr/>
        </p:nvSpPr>
        <p:spPr>
          <a:xfrm>
            <a:off x="7391400" y="44005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IQR</a:t>
            </a:r>
          </a:p>
        </p:txBody>
      </p:sp>
      <p:sp>
        <p:nvSpPr>
          <p:cNvPr id="26" name="Dikdörtgen: Köşeleri Yuvarlatılmış 25">
            <a:extLst>
              <a:ext uri="{FF2B5EF4-FFF2-40B4-BE49-F238E27FC236}">
                <a16:creationId xmlns:a16="http://schemas.microsoft.com/office/drawing/2014/main" id="{5E370D4D-AD14-4966-949A-1FAA5990E044}"/>
              </a:ext>
            </a:extLst>
          </p:cNvPr>
          <p:cNvSpPr>
            <a:spLocks noGrp="1"/>
          </p:cNvSpPr>
          <p:nvPr/>
        </p:nvSpPr>
        <p:spPr>
          <a:xfrm>
            <a:off x="8153400" y="4343400"/>
            <a:ext cx="8572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82F4DEF5-31D8-4117-9F63-B2158AD40D86}"/>
              </a:ext>
            </a:extLst>
          </p:cNvPr>
          <p:cNvSpPr>
            <a:spLocks noGrp="1"/>
          </p:cNvSpPr>
          <p:nvPr/>
        </p:nvSpPr>
        <p:spPr>
          <a:xfrm>
            <a:off x="8286750" y="440055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skew</a:t>
            </a:r>
          </a:p>
        </p:txBody>
      </p:sp>
      <p:sp>
        <p:nvSpPr>
          <p:cNvPr id="28" name="Dikdörtgen: Köşeleri Yuvarlatılmış 27">
            <a:extLst>
              <a:ext uri="{FF2B5EF4-FFF2-40B4-BE49-F238E27FC236}">
                <a16:creationId xmlns:a16="http://schemas.microsoft.com/office/drawing/2014/main" id="{32A03A37-C798-46B8-A306-9ECAE542E179}"/>
              </a:ext>
            </a:extLst>
          </p:cNvPr>
          <p:cNvSpPr>
            <a:spLocks noGrp="1"/>
          </p:cNvSpPr>
          <p:nvPr/>
        </p:nvSpPr>
        <p:spPr>
          <a:xfrm>
            <a:off x="9124950" y="4343400"/>
            <a:ext cx="11620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CADC6971-39BE-4615-BC63-37E31331CB5D}"/>
              </a:ext>
            </a:extLst>
          </p:cNvPr>
          <p:cNvSpPr>
            <a:spLocks noGrp="1"/>
          </p:cNvSpPr>
          <p:nvPr/>
        </p:nvSpPr>
        <p:spPr>
          <a:xfrm>
            <a:off x="9258300" y="4400550"/>
            <a:ext cx="895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kurtosis</a:t>
            </a:r>
          </a:p>
        </p:txBody>
      </p:sp>
      <p:sp>
        <p:nvSpPr>
          <p:cNvPr id="30" name="Dikdörtgen: Köşeleri Yuvarlatılmış 29">
            <a:extLst>
              <a:ext uri="{FF2B5EF4-FFF2-40B4-BE49-F238E27FC236}">
                <a16:creationId xmlns:a16="http://schemas.microsoft.com/office/drawing/2014/main" id="{9DD500C5-619C-496C-A0D6-D7E91615476F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20002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72415A2F-5B37-4E5B-AF8E-206BF7D15951}"/>
              </a:ext>
            </a:extLst>
          </p:cNvPr>
          <p:cNvSpPr>
            <a:spLocks noGrp="1"/>
          </p:cNvSpPr>
          <p:nvPr/>
        </p:nvSpPr>
        <p:spPr>
          <a:xfrm>
            <a:off x="819150" y="4838700"/>
            <a:ext cx="1733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low/medium/high oran</a:t>
            </a:r>
          </a:p>
        </p:txBody>
      </p:sp>
      <p:sp>
        <p:nvSpPr>
          <p:cNvPr id="32" name="Dikdörtgen: Köşeleri Yuvarlatılmış 31">
            <a:extLst>
              <a:ext uri="{FF2B5EF4-FFF2-40B4-BE49-F238E27FC236}">
                <a16:creationId xmlns:a16="http://schemas.microsoft.com/office/drawing/2014/main" id="{4CDACB7D-9365-41B5-A7FB-EA873C9D8D24}"/>
              </a:ext>
            </a:extLst>
          </p:cNvPr>
          <p:cNvSpPr>
            <a:spLocks noGrp="1"/>
          </p:cNvSpPr>
          <p:nvPr/>
        </p:nvSpPr>
        <p:spPr>
          <a:xfrm>
            <a:off x="2800350" y="4781550"/>
            <a:ext cx="14668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7E0E9F69-5F67-43A3-97CF-CEE43471AA02}"/>
              </a:ext>
            </a:extLst>
          </p:cNvPr>
          <p:cNvSpPr>
            <a:spLocks noGrp="1"/>
          </p:cNvSpPr>
          <p:nvPr/>
        </p:nvSpPr>
        <p:spPr>
          <a:xfrm>
            <a:off x="2933700" y="4838700"/>
            <a:ext cx="1200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mean_first10</a:t>
            </a:r>
          </a:p>
        </p:txBody>
      </p:sp>
      <p:sp>
        <p:nvSpPr>
          <p:cNvPr id="34" name="Dikdörtgen: Köşeleri Yuvarlatılmış 33">
            <a:extLst>
              <a:ext uri="{FF2B5EF4-FFF2-40B4-BE49-F238E27FC236}">
                <a16:creationId xmlns:a16="http://schemas.microsoft.com/office/drawing/2014/main" id="{5FD4A1C3-1465-4654-AB78-E7D5F1492DC4}"/>
              </a:ext>
            </a:extLst>
          </p:cNvPr>
          <p:cNvSpPr>
            <a:spLocks noGrp="1"/>
          </p:cNvSpPr>
          <p:nvPr/>
        </p:nvSpPr>
        <p:spPr>
          <a:xfrm>
            <a:off x="4381500" y="4781550"/>
            <a:ext cx="13906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70BF1FE9-9510-4D35-9FC0-DA415C2BC466}"/>
              </a:ext>
            </a:extLst>
          </p:cNvPr>
          <p:cNvSpPr>
            <a:spLocks noGrp="1"/>
          </p:cNvSpPr>
          <p:nvPr/>
        </p:nvSpPr>
        <p:spPr>
          <a:xfrm>
            <a:off x="4514850" y="4838700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mean_last10</a:t>
            </a:r>
          </a:p>
        </p:txBody>
      </p:sp>
      <p:sp>
        <p:nvSpPr>
          <p:cNvPr id="36" name="Dikdörtgen: Köşeleri Yuvarlatılmış 35">
            <a:extLst>
              <a:ext uri="{FF2B5EF4-FFF2-40B4-BE49-F238E27FC236}">
                <a16:creationId xmlns:a16="http://schemas.microsoft.com/office/drawing/2014/main" id="{8B99E0F3-A706-4337-82D1-BD127C1E4282}"/>
              </a:ext>
            </a:extLst>
          </p:cNvPr>
          <p:cNvSpPr>
            <a:spLocks noGrp="1"/>
          </p:cNvSpPr>
          <p:nvPr/>
        </p:nvSpPr>
        <p:spPr>
          <a:xfrm>
            <a:off x="5886450" y="4781550"/>
            <a:ext cx="9334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FC0F9E07-DA20-4DA0-921F-BE1B460A5294}"/>
              </a:ext>
            </a:extLst>
          </p:cNvPr>
          <p:cNvSpPr>
            <a:spLocks noGrp="1"/>
          </p:cNvSpPr>
          <p:nvPr/>
        </p:nvSpPr>
        <p:spPr>
          <a:xfrm>
            <a:off x="6019800" y="48387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38" name="Dikdörtgen: Köşeleri Yuvarlatılmış 37">
            <a:extLst>
              <a:ext uri="{FF2B5EF4-FFF2-40B4-BE49-F238E27FC236}">
                <a16:creationId xmlns:a16="http://schemas.microsoft.com/office/drawing/2014/main" id="{4F605A5A-5037-4688-B678-EB1BC48294B6}"/>
              </a:ext>
            </a:extLst>
          </p:cNvPr>
          <p:cNvSpPr>
            <a:spLocks noGrp="1"/>
          </p:cNvSpPr>
          <p:nvPr/>
        </p:nvSpPr>
        <p:spPr>
          <a:xfrm>
            <a:off x="6934200" y="4781550"/>
            <a:ext cx="1162050" cy="2857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808F8D4A-DB27-436D-B784-0A9B9793D4D7}"/>
              </a:ext>
            </a:extLst>
          </p:cNvPr>
          <p:cNvSpPr>
            <a:spLocks noGrp="1"/>
          </p:cNvSpPr>
          <p:nvPr/>
        </p:nvSpPr>
        <p:spPr>
          <a:xfrm>
            <a:off x="7067550" y="4838700"/>
            <a:ext cx="895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n_tokens</a:t>
            </a: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6E0A8D0E-B3E4-42E0-A69A-790B8C942E0C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2808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ikdörtgen 20">
            <a:extLst>
              <a:ext uri="{FF2B5EF4-FFF2-40B4-BE49-F238E27FC236}">
                <a16:creationId xmlns:a16="http://schemas.microsoft.com/office/drawing/2014/main" id="{7DA04762-8300-45A5-AB8E-9D1FE98D0B4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Final </a:t>
            </a: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veri</a:t>
            </a:r>
            <a:endParaRPr lang="tr-TR" sz="2400" b="1">
              <a:solidFill>
                <a:srgbClr val="0F17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2090F93-1871-426B-A3E1-8D63205BFC81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1776 soru üretildi. 551 doğru, 1225 yanlış. Dengeli set oluşturuldu.</a:t>
            </a:r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B92BA1BF-9931-4672-B526-951F6E35D12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2860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27113AC-50F0-47F1-B4FF-5DAE783C79E0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rPr>
              <a:t>1776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0D13547-54A7-4B79-84BE-134DAE5C19E3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182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Toplam üretilen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283E111D-24F3-401C-AC08-731AD87D59FF}"/>
              </a:ext>
            </a:extLst>
          </p:cNvPr>
          <p:cNvSpPr>
            <a:spLocks noGrp="1"/>
          </p:cNvSpPr>
          <p:nvPr/>
        </p:nvSpPr>
        <p:spPr>
          <a:xfrm>
            <a:off x="914400" y="2533650"/>
            <a:ext cx="1828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Checkpoint: cosmos_t1_final_l4.json</a:t>
            </a:r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DDEA6957-F790-43DE-91FE-70A72E6EE910}"/>
              </a:ext>
            </a:extLst>
          </p:cNvPr>
          <p:cNvSpPr>
            <a:spLocks noGrp="1"/>
          </p:cNvSpPr>
          <p:nvPr/>
        </p:nvSpPr>
        <p:spPr>
          <a:xfrm>
            <a:off x="3257550" y="1524000"/>
            <a:ext cx="22860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B934FF7-AB8A-4843-A00B-04470A1D8B25}"/>
              </a:ext>
            </a:extLst>
          </p:cNvPr>
          <p:cNvSpPr>
            <a:spLocks noGrp="1"/>
          </p:cNvSpPr>
          <p:nvPr/>
        </p:nvSpPr>
        <p:spPr>
          <a:xfrm>
            <a:off x="3486150" y="173355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551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4BEC2D19-6CD9-4F16-BF08-DFD3B2823573}"/>
              </a:ext>
            </a:extLst>
          </p:cNvPr>
          <p:cNvSpPr>
            <a:spLocks noGrp="1"/>
          </p:cNvSpPr>
          <p:nvPr/>
        </p:nvSpPr>
        <p:spPr>
          <a:xfrm>
            <a:off x="3486150" y="2266950"/>
            <a:ext cx="182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Doğru cevap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0E712B3F-ACA4-41C3-9D9E-C2F9B79FC66B}"/>
              </a:ext>
            </a:extLst>
          </p:cNvPr>
          <p:cNvSpPr>
            <a:spLocks noGrp="1"/>
          </p:cNvSpPr>
          <p:nvPr/>
        </p:nvSpPr>
        <p:spPr>
          <a:xfrm>
            <a:off x="3486150" y="2533650"/>
            <a:ext cx="1828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Hedef aşıldı ✓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34083D68-3DE8-42FB-BD7F-D5006E712C56}"/>
              </a:ext>
            </a:extLst>
          </p:cNvPr>
          <p:cNvSpPr>
            <a:spLocks noGrp="1"/>
          </p:cNvSpPr>
          <p:nvPr/>
        </p:nvSpPr>
        <p:spPr>
          <a:xfrm>
            <a:off x="5829300" y="1524000"/>
            <a:ext cx="22860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939E8D1E-892B-45FB-B2DF-41E8E55CFDCB}"/>
              </a:ext>
            </a:extLst>
          </p:cNvPr>
          <p:cNvSpPr>
            <a:spLocks noGrp="1"/>
          </p:cNvSpPr>
          <p:nvPr/>
        </p:nvSpPr>
        <p:spPr>
          <a:xfrm>
            <a:off x="6057900" y="173355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1225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900D2290-03BC-4E66-88D9-74CD9AF11CBB}"/>
              </a:ext>
            </a:extLst>
          </p:cNvPr>
          <p:cNvSpPr>
            <a:spLocks noGrp="1"/>
          </p:cNvSpPr>
          <p:nvPr/>
        </p:nvSpPr>
        <p:spPr>
          <a:xfrm>
            <a:off x="6057900" y="2266950"/>
            <a:ext cx="182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Yanlış cevap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6889DD75-3F6F-46A0-9528-B57A5BC732FA}"/>
              </a:ext>
            </a:extLst>
          </p:cNvPr>
          <p:cNvSpPr>
            <a:spLocks noGrp="1"/>
          </p:cNvSpPr>
          <p:nvPr/>
        </p:nvSpPr>
        <p:spPr>
          <a:xfrm>
            <a:off x="6057900" y="2533650"/>
            <a:ext cx="1828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Hedef aşıldı ✓</a:t>
            </a:r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8FB1316B-7694-4687-8372-FDB737123250}"/>
              </a:ext>
            </a:extLst>
          </p:cNvPr>
          <p:cNvSpPr>
            <a:spLocks noGrp="1"/>
          </p:cNvSpPr>
          <p:nvPr/>
        </p:nvSpPr>
        <p:spPr>
          <a:xfrm>
            <a:off x="8401050" y="1524000"/>
            <a:ext cx="22860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0B128814-4A63-4B9F-B426-66C17363DD73}"/>
              </a:ext>
            </a:extLst>
          </p:cNvPr>
          <p:cNvSpPr>
            <a:spLocks noGrp="1"/>
          </p:cNvSpPr>
          <p:nvPr/>
        </p:nvSpPr>
        <p:spPr>
          <a:xfrm>
            <a:off x="8629650" y="173355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BBEE7383-6F27-4CA6-A56B-C7FDB4E3F6A9}"/>
              </a:ext>
            </a:extLst>
          </p:cNvPr>
          <p:cNvSpPr>
            <a:spLocks noGrp="1"/>
          </p:cNvSpPr>
          <p:nvPr/>
        </p:nvSpPr>
        <p:spPr>
          <a:xfrm>
            <a:off x="8629650" y="2266950"/>
            <a:ext cx="182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Eksik yok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C6C54007-E74E-40A6-97A5-82411CBEDE2E}"/>
              </a:ext>
            </a:extLst>
          </p:cNvPr>
          <p:cNvSpPr>
            <a:spLocks noGrp="1"/>
          </p:cNvSpPr>
          <p:nvPr/>
        </p:nvSpPr>
        <p:spPr>
          <a:xfrm>
            <a:off x="8629650" y="2533650"/>
            <a:ext cx="1828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5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set </a:t>
            </a:r>
            <a:r>
              <a:rPr sz="95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hazır</a:t>
            </a:r>
            <a:endParaRPr lang="tr-TR" sz="950" err="1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846613B7-8441-4275-89E2-9D34FD674337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4905375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73633C20-8AC2-42C7-B142-B6E8D5FD3FA6}"/>
              </a:ext>
            </a:extLst>
          </p:cNvPr>
          <p:cNvSpPr>
            <a:spLocks noGrp="1"/>
          </p:cNvSpPr>
          <p:nvPr/>
        </p:nvSpPr>
        <p:spPr>
          <a:xfrm>
            <a:off x="971550" y="37338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Final dengeli set</a:t>
            </a:r>
          </a:p>
        </p:txBody>
      </p:sp>
      <p:graphicFrame>
        <p:nvGraphicFramePr>
          <p:cNvPr id="47" name="Tablo 46"/>
          <p:cNvGraphicFramePr/>
          <p:nvPr/>
        </p:nvGraphicFramePr>
        <p:xfrm>
          <a:off x="971550" y="4210050"/>
          <a:ext cx="4333876" cy="914400"/>
        </p:xfrm>
        <a:graphic>
          <a:graphicData uri="http://schemas.openxmlformats.org/drawingml/2006/table">
            <a:tbl>
              <a:tblPr firstRow="1" bandRow="1"/>
              <a:tblGrid>
                <a:gridCol w="1083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3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47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Küme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Doğru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Yanlış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Toplam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Eğitim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640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Toplam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Dikdörtgen: Köşeleri Yuvarlatılmış 21">
            <a:extLst>
              <a:ext uri="{FF2B5EF4-FFF2-40B4-BE49-F238E27FC236}">
                <a16:creationId xmlns:a16="http://schemas.microsoft.com/office/drawing/2014/main" id="{EAD7E89C-DC54-4163-B601-B1D7040592E3}"/>
              </a:ext>
            </a:extLst>
          </p:cNvPr>
          <p:cNvSpPr>
            <a:spLocks noGrp="1"/>
          </p:cNvSpPr>
          <p:nvPr/>
        </p:nvSpPr>
        <p:spPr>
          <a:xfrm>
            <a:off x="6096000" y="3476625"/>
            <a:ext cx="4905375" cy="180975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 w="9525">
            <a:solidFill>
              <a:srgbClr val="FDE68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2CDD8032-D652-49CE-8B9E-F181522EFA71}"/>
              </a:ext>
            </a:extLst>
          </p:cNvPr>
          <p:cNvSpPr>
            <a:spLocks noGrp="1"/>
          </p:cNvSpPr>
          <p:nvPr/>
        </p:nvSpPr>
        <p:spPr>
          <a:xfrm>
            <a:off x="6381750" y="3733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Ödevin tam final şartı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53B9700B-0B84-4617-B4BA-DF40D6AB9391}"/>
              </a:ext>
            </a:extLst>
          </p:cNvPr>
          <p:cNvSpPr>
            <a:spLocks noGrp="1"/>
          </p:cNvSpPr>
          <p:nvPr/>
        </p:nvSpPr>
        <p:spPr>
          <a:xfrm>
            <a:off x="6419850" y="4171950"/>
            <a:ext cx="4095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Train: 500 doğru + 500 yanlış = 1000</a:t>
            </a:r>
          </a:p>
          <a:p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Test: 50 doğru + 50 yanlış = 100</a:t>
            </a:r>
          </a:p>
          <a:p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Hedef aşıldı: 551 doğru + 1225 yanlış</a:t>
            </a:r>
          </a:p>
          <a:p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Sonraki koşu: N_RUN 1750/1820 aralığına çıkarılacak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0CFE0FD3-089D-4820-AD6F-F3F59A8E0071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3530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>
            <a:extLst>
              <a:ext uri="{FF2B5EF4-FFF2-40B4-BE49-F238E27FC236}">
                <a16:creationId xmlns:a16="http://schemas.microsoft.com/office/drawing/2014/main" id="{0E01B937-AD5D-4DBF-B05A-F7EC364123F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Final sonuçlar: RF ve GB karşılaştırması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229193B-DC3E-4261-9A0F-FDEE0DB47190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1000 eğitim + 100 test.
F1 ve Accuracy'ye göre → RF en iyi (F1=0.743, Acc=0.73)
AUC'ye göre → GB en iyi (AUC=0.794)</a:t>
            </a:r>
          </a:p>
        </p:txBody>
      </p:sp>
      <p:graphicFrame>
        <p:nvGraphicFramePr>
          <p:cNvPr id="12" name="Tablo 11"/>
          <p:cNvGraphicFramePr/>
          <p:nvPr/>
        </p:nvGraphicFramePr>
        <p:xfrm>
          <a:off x="685800" y="1562100"/>
          <a:ext cx="7239000" cy="1695452"/>
        </p:xfrm>
        <a:graphic>
          <a:graphicData uri="http://schemas.openxmlformats.org/drawingml/2006/table">
            <a:tbl>
              <a:tblPr firstRow="1" bandRow="1"/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0.6700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0.6393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Random Forest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0.7400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0.6935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0.8600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0.7679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0.8032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0.6949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0.8200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0.7916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="8286750" y="1476375"/>
          <a:ext cx="314325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Dikdörtgen: Köşeleri Yuvarlatılmış 4">
            <a:extLst>
              <a:ext uri="{FF2B5EF4-FFF2-40B4-BE49-F238E27FC236}">
                <a16:creationId xmlns:a16="http://schemas.microsoft.com/office/drawing/2014/main" id="{09AA0425-61BF-4191-A7CC-615167D272B2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038225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91440" tIns="45720" rIns="91440" bIns="45720" anchor="t"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65B1BE5D-4360-4391-AD8C-F999C82FC425}"/>
              </a:ext>
            </a:extLst>
          </p:cNvPr>
          <p:cNvSpPr>
            <a:spLocks noGrp="1"/>
          </p:cNvSpPr>
          <p:nvPr/>
        </p:nvSpPr>
        <p:spPr>
          <a:xfrm>
            <a:off x="1924050" y="4229100"/>
            <a:ext cx="809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0F172A"/>
                </a:solidFill>
                <a:latin typeface="Aptos"/>
                <a:ea typeface="Aptos"/>
                <a:cs typeface="Aptos"/>
              </a:rPr>
              <a:t>Logistic Regression doğrusal karar sınırı kullandığı için sınırlı kaldı. Random Forest, mean_first10, mean_last10, q75 gibi özellikler arasındaki doğrusal olmayan etkileşimleri daha iyi yakaladı.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B819504-2341-4468-87B8-7DA655DB5EF0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1858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>
            <a:extLst>
              <a:ext uri="{FF2B5EF4-FFF2-40B4-BE49-F238E27FC236}">
                <a16:creationId xmlns:a16="http://schemas.microsoft.com/office/drawing/2014/main" id="{ED7B3029-EAF6-4C84-9418-73E9D5D7C5D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Confusion matrix: Random Forest doğru sınıfı en az kaçırıyor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895B9D3F-7281-4AEB-8226-D63D38104476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Test kümesi 50 doğru + 50 yanlış örnekten oluşan dengeli final settir.</a:t>
            </a: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4224BDB9-B35E-4E02-8207-01D206B5807C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50" name="Picture 49" descr="fig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63040"/>
            <a:ext cx="11612880" cy="357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822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>
            <a:extLst>
              <a:ext uri="{FF2B5EF4-FFF2-40B4-BE49-F238E27FC236}">
                <a16:creationId xmlns:a16="http://schemas.microsoft.com/office/drawing/2014/main" id="{2EEB2FFA-A27A-4DF5-A721-F0CF6AE6D48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ROC-AUC sonuçları top1-top2 sinyalinin ayırt edici olduğunu gösteriyor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6BBC751-FB00-400A-BF6A-41ED2102EA0C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F1'de RF (0.743), AUC'de GB (0.794) öne çıktı.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0ED9217-CB7B-40CF-B183-57F01840F532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0" name="Picture 9" descr="fig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78" y="1541867"/>
            <a:ext cx="5574689" cy="476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19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>
            <a:extLst>
              <a:ext uri="{FF2B5EF4-FFF2-40B4-BE49-F238E27FC236}">
                <a16:creationId xmlns:a16="http://schemas.microsoft.com/office/drawing/2014/main" id="{7D50A9B9-321B-4D4E-ACE1-C878E7256DD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Özellik önemleri: cevabın başı ve sonu belirleyici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B7BB5BFD-948F-412F-8613-F53F621C285F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Top1-top2 dizisinin yalnızca ortalaması değil, zamansal profili de tahminde kullanılıyor.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6C4C30CF-1610-4134-99C3-DD41A1E685F7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18" name="Picture 17" descr="fig_feat_i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63040"/>
            <a:ext cx="11612880" cy="409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79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ikdörtgen 11">
            <a:extLst>
              <a:ext uri="{FF2B5EF4-FFF2-40B4-BE49-F238E27FC236}">
                <a16:creationId xmlns:a16="http://schemas.microsoft.com/office/drawing/2014/main" id="{326FE9AF-083F-42A9-AB32-064A7A0DE55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33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Sınırlılıklar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2680089F-1AAC-4F5A-8B17-282340A58F07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koşu tamamlandı. 1776 soru üretildi, 1000+100 dengeli set oluşturuldu.</a:t>
            </a:r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F3DEB9B9-D771-45DA-8B8A-4B5081B0BCD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E6CED2E2-1743-481F-8CCC-EA30AE6F8D06}"/>
              </a:ext>
            </a:extLst>
          </p:cNvPr>
          <p:cNvSpPr>
            <a:spLocks noGrp="1"/>
          </p:cNvSpPr>
          <p:nvPr/>
        </p:nvSpPr>
        <p:spPr>
          <a:xfrm>
            <a:off x="971550" y="18478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Sınırlılıklar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B8857DE-C093-4B93-91CA-F8DDBFB0C58B}"/>
              </a:ext>
            </a:extLst>
          </p:cNvPr>
          <p:cNvSpPr>
            <a:spLocks noGrp="1"/>
          </p:cNvSpPr>
          <p:nvPr/>
        </p:nvSpPr>
        <p:spPr>
          <a:xfrm>
            <a:off x="1009650" y="2343150"/>
            <a:ext cx="4095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1776 koşusu ödevin tam dengeli hedefi için yeterli doğru sınıf üretmedi.</a:t>
            </a:r>
          </a:p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Think modeli uzun muhakeme yazabildiği için token sınırı cevap formatını etkileyebilir.</a:t>
            </a:r>
          </a:p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Ara ölçekte test 100 örnek; nihai tablo 1000 train + 100 test tamamlanınca güncellenmeli.</a:t>
            </a:r>
          </a:p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Tek model ve tek veri kümesi kullanılıyor; genelleme yorumu sınırlı.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4A8BE9A2-60D8-431F-BC24-20D4F6EC19DF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4762500" cy="342900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9525">
            <a:solidFill>
              <a:srgbClr val="99F6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052BD1F-EA8C-4531-BD25-0B7EB65ED717}"/>
              </a:ext>
            </a:extLst>
          </p:cNvPr>
          <p:cNvSpPr>
            <a:spLocks noGrp="1"/>
          </p:cNvSpPr>
          <p:nvPr/>
        </p:nvSpPr>
        <p:spPr>
          <a:xfrm>
            <a:off x="6477000" y="18478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Final sonuçlar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CB40A5B-E63B-4A13-8C08-FE9B4076EE69}"/>
              </a:ext>
            </a:extLst>
          </p:cNvPr>
          <p:cNvSpPr>
            <a:spLocks noGrp="1"/>
          </p:cNvSpPr>
          <p:nvPr/>
        </p:nvSpPr>
        <p:spPr>
          <a:xfrm>
            <a:off x="6515100" y="2343150"/>
            <a:ext cx="3810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Checkpointten devam: N_RUN 1750 → gerekirse 1820/1900.</a:t>
            </a:r>
          </a:p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Hedef: en az 550 doğru ve 550 yanlış kullanılabilir cevap.</a:t>
            </a:r>
          </a:p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Dengeleme: 500/500 train ve 50/50 test.</a:t>
            </a:r>
          </a:p>
          <a:p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Aynı ML pipeline ile final metrikleri ve grafikler yeniden üretilecek.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DF4FBD6F-C61F-448C-9990-515A8B201115}"/>
              </a:ext>
            </a:extLst>
          </p:cNvPr>
          <p:cNvSpPr>
            <a:spLocks noGrp="1"/>
          </p:cNvSpPr>
          <p:nvPr/>
        </p:nvSpPr>
        <p:spPr>
          <a:xfrm>
            <a:off x="6515100" y="40957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Top1-top2 farkı, modelin iç sinyalinden güven tahmini yapılabildiğini gösterdi.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E1A78A10-E9AD-410A-B2B3-41ADBF9BF863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6501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ikdörtgen 16">
            <a:extLst>
              <a:ext uri="{FF2B5EF4-FFF2-40B4-BE49-F238E27FC236}">
                <a16:creationId xmlns:a16="http://schemas.microsoft.com/office/drawing/2014/main" id="{FFC1CAE1-1EAF-4B20-8AC5-AFFEA82B06C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SONUÇ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DCE68A8-9E16-47B7-9C87-0668CE52CE08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953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Top1-top2 farkı, cevap doğruluğu için kullanılabilir bir güven sinyali veriyor.</a:t>
            </a:r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655FF2C3-B738-4CDB-A3AF-0F6268779425}"/>
              </a:ext>
            </a:extLst>
          </p:cNvPr>
          <p:cNvSpPr>
            <a:spLocks noGrp="1"/>
          </p:cNvSpPr>
          <p:nvPr/>
        </p:nvSpPr>
        <p:spPr>
          <a:xfrm>
            <a:off x="742950" y="3048000"/>
            <a:ext cx="3048000" cy="161925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D490D9BA-0B48-4519-BC7A-F5CD364139FE}"/>
              </a:ext>
            </a:extLst>
          </p:cNvPr>
          <p:cNvSpPr>
            <a:spLocks noGrp="1"/>
          </p:cNvSpPr>
          <p:nvPr/>
        </p:nvSpPr>
        <p:spPr>
          <a:xfrm>
            <a:off x="971550" y="32575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37B970CB-EF95-4342-A24D-726C5A359A4A}"/>
              </a:ext>
            </a:extLst>
          </p:cNvPr>
          <p:cNvSpPr>
            <a:spLocks noGrp="1"/>
          </p:cNvSpPr>
          <p:nvPr/>
        </p:nvSpPr>
        <p:spPr>
          <a:xfrm>
            <a:off x="1562100" y="3314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F1'de RF lider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E2632B96-D930-4D8E-919E-4BCF737D198C}"/>
              </a:ext>
            </a:extLst>
          </p:cNvPr>
          <p:cNvSpPr>
            <a:spLocks noGrp="1"/>
          </p:cNvSpPr>
          <p:nvPr/>
        </p:nvSpPr>
        <p:spPr>
          <a:xfrm>
            <a:off x="1562100" y="3676650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CBD5E1"/>
                </a:solidFill>
                <a:latin typeface="Aptos"/>
                <a:ea typeface="Aptos"/>
                <a:cs typeface="Aptos"/>
              </a:rPr>
              <a:t>F1=0.7429, Acc=0.73 — F1/Accuracy lideri.</a:t>
            </a:r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E49A6136-5BCE-4575-9963-A6177CF2E632}"/>
              </a:ext>
            </a:extLst>
          </p:cNvPr>
          <p:cNvSpPr>
            <a:spLocks noGrp="1"/>
          </p:cNvSpPr>
          <p:nvPr/>
        </p:nvSpPr>
        <p:spPr>
          <a:xfrm>
            <a:off x="4286250" y="3048000"/>
            <a:ext cx="3048000" cy="161925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98F81C9-C175-4166-AF1E-EA9194590341}"/>
              </a:ext>
            </a:extLst>
          </p:cNvPr>
          <p:cNvSpPr>
            <a:spLocks noGrp="1"/>
          </p:cNvSpPr>
          <p:nvPr/>
        </p:nvSpPr>
        <p:spPr>
          <a:xfrm>
            <a:off x="4514850" y="32575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20C8756-DC3C-4F3E-94AB-3AFE2EF91760}"/>
              </a:ext>
            </a:extLst>
          </p:cNvPr>
          <p:cNvSpPr>
            <a:spLocks noGrp="1"/>
          </p:cNvSpPr>
          <p:nvPr/>
        </p:nvSpPr>
        <p:spPr>
          <a:xfrm>
            <a:off x="5105400" y="3314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Sinyal doğrusal değil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F86504A6-47DB-4073-B060-4078D82B78C4}"/>
              </a:ext>
            </a:extLst>
          </p:cNvPr>
          <p:cNvSpPr>
            <a:spLocks noGrp="1"/>
          </p:cNvSpPr>
          <p:nvPr/>
        </p:nvSpPr>
        <p:spPr>
          <a:xfrm>
            <a:off x="5105400" y="3676650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CBD5E1"/>
                </a:solidFill>
                <a:latin typeface="Aptos"/>
                <a:ea typeface="Aptos"/>
                <a:cs typeface="Aptos"/>
              </a:rPr>
              <a:t>LR sinyal görüyor ama ağaç modelleri daha iyi kullanıyor.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157D73B5-6748-46F1-9C05-B774854C99CF}"/>
              </a:ext>
            </a:extLst>
          </p:cNvPr>
          <p:cNvSpPr>
            <a:spLocks noGrp="1"/>
          </p:cNvSpPr>
          <p:nvPr/>
        </p:nvSpPr>
        <p:spPr>
          <a:xfrm>
            <a:off x="7829550" y="3048000"/>
            <a:ext cx="3048000" cy="161925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8ABF5AE-B544-4C84-9E79-EEBC54278B5C}"/>
              </a:ext>
            </a:extLst>
          </p:cNvPr>
          <p:cNvSpPr>
            <a:spLocks noGrp="1"/>
          </p:cNvSpPr>
          <p:nvPr/>
        </p:nvSpPr>
        <p:spPr>
          <a:xfrm>
            <a:off x="8058150" y="32575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57CE3DD0-99FB-440B-BD4D-4F53FD048A0C}"/>
              </a:ext>
            </a:extLst>
          </p:cNvPr>
          <p:cNvSpPr>
            <a:spLocks noGrp="1"/>
          </p:cNvSpPr>
          <p:nvPr/>
        </p:nvSpPr>
        <p:spPr>
          <a:xfrm>
            <a:off x="8648700" y="3314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AUC'de GB lider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D0190E0A-A5B0-462C-BC3E-35219B67D91B}"/>
              </a:ext>
            </a:extLst>
          </p:cNvPr>
          <p:cNvSpPr>
            <a:spLocks noGrp="1"/>
          </p:cNvSpPr>
          <p:nvPr/>
        </p:nvSpPr>
        <p:spPr>
          <a:xfrm>
            <a:off x="8648700" y="3676650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CBD5E1"/>
                </a:solidFill>
                <a:latin typeface="Aptos"/>
                <a:ea typeface="Aptos"/>
                <a:cs typeface="Aptos"/>
              </a:rPr>
              <a:t>AUC=0.7936 — eşik bağımsız ayırt etmede öne çıktı.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D818F10C-535C-420B-ADF5-70DC4CFBFD93}"/>
              </a:ext>
            </a:extLst>
          </p:cNvPr>
          <p:cNvSpPr>
            <a:spLocks noGrp="1"/>
          </p:cNvSpPr>
          <p:nvPr/>
        </p:nvSpPr>
        <p:spPr>
          <a:xfrm>
            <a:off x="742950" y="525780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E2E8F0"/>
                </a:solidFill>
                <a:latin typeface="Aptos"/>
                <a:ea typeface="Aptos"/>
                <a:cs typeface="Aptos"/>
              </a:rPr>
              <a:t>Top1-top2 farkı ek dış bilgi gerektirmeksizin modelin üretim sürecinden güvenilir kalite göstergesi olarak elde edilebilir.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4E8A9A11-1C3F-47FA-A46B-E9626BBF4122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67061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Geniş ekran</PresentationFormat>
  <Slides>11</Slides>
  <Notes>11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2" baseType="lpstr">
      <vt:lpstr>ChatGPT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29</cp:revision>
  <dcterms:created xsi:type="dcterms:W3CDTF">2026-06-15T07:14:20Z</dcterms:created>
  <dcterms:modified xsi:type="dcterms:W3CDTF">2026-06-15T08:35:35Z</dcterms:modified>
</cp:coreProperties>
</file>